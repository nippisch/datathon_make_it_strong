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90" r:id="rId2"/>
  </p:sldMasterIdLst>
  <p:notesMasterIdLst>
    <p:notesMasterId r:id="rId4"/>
  </p:notesMasterIdLst>
  <p:handoutMasterIdLst>
    <p:handoutMasterId r:id="rId5"/>
  </p:handoutMasterIdLst>
  <p:sldIdLst>
    <p:sldId id="264" r:id="rId3"/>
  </p:sldIdLst>
  <p:sldSz cx="21383625" cy="30275213"/>
  <p:notesSz cx="6858000" cy="9144000"/>
  <p:defaultTextStyle>
    <a:defPPr>
      <a:defRPr lang="en-US"/>
    </a:defPPr>
    <a:lvl1pPr marL="0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1pPr>
    <a:lvl2pPr marL="1239707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2pPr>
    <a:lvl3pPr marL="2479414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3pPr>
    <a:lvl4pPr marL="3719121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4pPr>
    <a:lvl5pPr marL="4958828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5pPr>
    <a:lvl6pPr marL="6198535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6pPr>
    <a:lvl7pPr marL="7438241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7pPr>
    <a:lvl8pPr marL="8677949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8pPr>
    <a:lvl9pPr marL="9917655" algn="l" defTabSz="2479414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B57052-E41A-AB9C-B2C2-6A6A40C49926}" name="Markus Herklotz" initials="MH" userId="bf16b252d87331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1400"/>
    <a:srgbClr val="616468"/>
    <a:srgbClr val="E5E5E5"/>
    <a:srgbClr val="9BD4FF"/>
    <a:srgbClr val="D9EFFF"/>
    <a:srgbClr val="81C9FF"/>
    <a:srgbClr val="BA8CDC"/>
    <a:srgbClr val="83D3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39"/>
    <p:restoredTop sz="94655"/>
  </p:normalViewPr>
  <p:slideViewPr>
    <p:cSldViewPr snapToGrid="0" snapToObjects="1">
      <p:cViewPr>
        <p:scale>
          <a:sx n="65" d="100"/>
          <a:sy n="65" d="100"/>
        </p:scale>
        <p:origin x="25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01" d="100"/>
          <a:sy n="101" d="100"/>
        </p:scale>
        <p:origin x="3936" y="208"/>
      </p:cViewPr>
      <p:guideLst/>
    </p:cSldViewPr>
  </p:notesViewPr>
  <p:gridSpacing cx="36576" cy="3657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8/10/relationships/authors" Target="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6A8FA-5B42-674C-B20D-1B27C6B6ED8B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A0952-F090-8947-9D2B-4C66FA80507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53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CF15A-2A27-7442-AB11-75F1A48A6AE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CBA48-C438-7943-8380-32C73458EAB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26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1pPr>
    <a:lvl2pPr marL="307467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2pPr>
    <a:lvl3pPr marL="614934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3pPr>
    <a:lvl4pPr marL="922401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4pPr>
    <a:lvl5pPr marL="1229868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5pPr>
    <a:lvl6pPr marL="1537335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6pPr>
    <a:lvl7pPr marL="1844802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7pPr>
    <a:lvl8pPr marL="2152269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8pPr>
    <a:lvl9pPr marL="2459736" algn="l" defTabSz="614934" rtl="0" eaLnBrk="1" latinLnBrk="0" hangingPunct="1">
      <a:defRPr sz="80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CBA48-C438-7943-8380-32C73458EA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9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search Poster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/>
          <p:nvPr userDrawn="1"/>
        </p:nvCxnSpPr>
        <p:spPr bwMode="auto">
          <a:xfrm>
            <a:off x="7222214" y="4406639"/>
            <a:ext cx="0" cy="2362596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18" name="Straight Connector 17"/>
          <p:cNvCxnSpPr/>
          <p:nvPr userDrawn="1"/>
        </p:nvCxnSpPr>
        <p:spPr bwMode="auto">
          <a:xfrm>
            <a:off x="14159123" y="4410394"/>
            <a:ext cx="0" cy="2362728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sp>
        <p:nvSpPr>
          <p:cNvPr id="7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93990" y="16657374"/>
            <a:ext cx="6311139" cy="5140479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19"/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593990" y="22874605"/>
            <a:ext cx="6311139" cy="5140479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19"/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11" name="Content Placeholder 9"/>
          <p:cNvSpPr>
            <a:spLocks noGrp="1"/>
          </p:cNvSpPr>
          <p:nvPr>
            <p:ph sz="quarter" idx="10"/>
          </p:nvPr>
        </p:nvSpPr>
        <p:spPr>
          <a:xfrm>
            <a:off x="593990" y="4493977"/>
            <a:ext cx="6311139" cy="11311907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9"/>
          <p:cNvSpPr>
            <a:spLocks noGrp="1"/>
          </p:cNvSpPr>
          <p:nvPr>
            <p:ph sz="quarter" idx="18"/>
          </p:nvPr>
        </p:nvSpPr>
        <p:spPr>
          <a:xfrm>
            <a:off x="7547162" y="4493977"/>
            <a:ext cx="6329815" cy="13924946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23"/>
          </p:nvPr>
        </p:nvSpPr>
        <p:spPr>
          <a:xfrm>
            <a:off x="7499119" y="23695095"/>
            <a:ext cx="6347543" cy="4319990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9"/>
          <p:cNvSpPr>
            <a:spLocks noGrp="1"/>
          </p:cNvSpPr>
          <p:nvPr>
            <p:ph sz="quarter" idx="24"/>
          </p:nvPr>
        </p:nvSpPr>
        <p:spPr>
          <a:xfrm>
            <a:off x="7499119" y="18834423"/>
            <a:ext cx="6347543" cy="4420125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4471585" y="12864337"/>
            <a:ext cx="6364763" cy="5140479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19"/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20" name="Content Placeholder 9"/>
          <p:cNvSpPr>
            <a:spLocks noGrp="1"/>
          </p:cNvSpPr>
          <p:nvPr>
            <p:ph sz="quarter" idx="20"/>
          </p:nvPr>
        </p:nvSpPr>
        <p:spPr>
          <a:xfrm>
            <a:off x="14471585" y="4493978"/>
            <a:ext cx="6364763" cy="7795771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9"/>
          <p:cNvSpPr>
            <a:spLocks noGrp="1"/>
          </p:cNvSpPr>
          <p:nvPr>
            <p:ph sz="quarter" idx="21"/>
          </p:nvPr>
        </p:nvSpPr>
        <p:spPr>
          <a:xfrm>
            <a:off x="14471584" y="18579406"/>
            <a:ext cx="6342801" cy="9435679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1146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276" userDrawn="1">
          <p15:clr>
            <a:srgbClr val="FBAE40"/>
          </p15:clr>
        </p15:guide>
        <p15:guide id="2" pos="374" userDrawn="1">
          <p15:clr>
            <a:srgbClr val="FBAE40"/>
          </p15:clr>
        </p15:guide>
        <p15:guide id="3" pos="13111" userDrawn="1">
          <p15:clr>
            <a:srgbClr val="FBAE40"/>
          </p15:clr>
        </p15:guide>
        <p15:guide id="4" orient="horz" pos="3460" userDrawn="1">
          <p15:clr>
            <a:srgbClr val="FBAE40"/>
          </p15:clr>
        </p15:guide>
        <p15:guide id="5" pos="8731" userDrawn="1">
          <p15:clr>
            <a:srgbClr val="FBAE40"/>
          </p15:clr>
        </p15:guide>
        <p15:guide id="6" pos="4350" userDrawn="1">
          <p15:clr>
            <a:srgbClr val="FBAE40"/>
          </p15:clr>
        </p15:guide>
        <p15:guide id="7" pos="4724" userDrawn="1">
          <p15:clr>
            <a:srgbClr val="FBAE40"/>
          </p15:clr>
        </p15:guide>
        <p15:guide id="8" pos="91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002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276" userDrawn="1">
          <p15:clr>
            <a:srgbClr val="FBAE40"/>
          </p15:clr>
        </p15:guide>
        <p15:guide id="2" pos="374" userDrawn="1">
          <p15:clr>
            <a:srgbClr val="FBAE40"/>
          </p15:clr>
        </p15:guide>
        <p15:guide id="3" pos="13111" userDrawn="1">
          <p15:clr>
            <a:srgbClr val="FBAE40"/>
          </p15:clr>
        </p15:guide>
        <p15:guide id="4" orient="horz" pos="3460" userDrawn="1">
          <p15:clr>
            <a:srgbClr val="FBAE40"/>
          </p15:clr>
        </p15:guide>
        <p15:guide id="5" pos="8731" userDrawn="1">
          <p15:clr>
            <a:srgbClr val="FBAE40"/>
          </p15:clr>
        </p15:guide>
        <p15:guide id="6" pos="4350" userDrawn="1">
          <p15:clr>
            <a:srgbClr val="FBAE40"/>
          </p15:clr>
        </p15:guide>
        <p15:guide id="7" pos="4724" userDrawn="1">
          <p15:clr>
            <a:srgbClr val="FBAE40"/>
          </p15:clr>
        </p15:guide>
        <p15:guide id="8" pos="910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19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451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93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8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1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444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276" userDrawn="1">
          <p15:clr>
            <a:srgbClr val="FBAE40"/>
          </p15:clr>
        </p15:guide>
        <p15:guide id="2" pos="374" userDrawn="1">
          <p15:clr>
            <a:srgbClr val="FBAE40"/>
          </p15:clr>
        </p15:guide>
        <p15:guide id="3" pos="13111" userDrawn="1">
          <p15:clr>
            <a:srgbClr val="FBAE40"/>
          </p15:clr>
        </p15:guide>
        <p15:guide id="4" orient="horz" pos="3460" userDrawn="1">
          <p15:clr>
            <a:srgbClr val="FBAE40"/>
          </p15:clr>
        </p15:guide>
        <p15:guide id="5" pos="8731" userDrawn="1">
          <p15:clr>
            <a:srgbClr val="FBAE40"/>
          </p15:clr>
        </p15:guide>
        <p15:guide id="6" pos="4350" userDrawn="1">
          <p15:clr>
            <a:srgbClr val="FBAE40"/>
          </p15:clr>
        </p15:guide>
        <p15:guide id="7" pos="4724" userDrawn="1">
          <p15:clr>
            <a:srgbClr val="FBAE40"/>
          </p15:clr>
        </p15:guide>
        <p15:guide id="8" pos="910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279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051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769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747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search Poster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93990" y="16657374"/>
            <a:ext cx="6311139" cy="5140479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19"/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593990" y="22874605"/>
            <a:ext cx="6311139" cy="5140479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19"/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11" name="Content Placeholder 9"/>
          <p:cNvSpPr>
            <a:spLocks noGrp="1"/>
          </p:cNvSpPr>
          <p:nvPr>
            <p:ph sz="quarter" idx="10"/>
          </p:nvPr>
        </p:nvSpPr>
        <p:spPr>
          <a:xfrm>
            <a:off x="593990" y="4493977"/>
            <a:ext cx="6311139" cy="11311907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9"/>
          <p:cNvSpPr>
            <a:spLocks noGrp="1"/>
          </p:cNvSpPr>
          <p:nvPr>
            <p:ph sz="quarter" idx="18"/>
          </p:nvPr>
        </p:nvSpPr>
        <p:spPr>
          <a:xfrm>
            <a:off x="7547162" y="4493977"/>
            <a:ext cx="6329815" cy="13924946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23"/>
          </p:nvPr>
        </p:nvSpPr>
        <p:spPr>
          <a:xfrm>
            <a:off x="7499119" y="23695095"/>
            <a:ext cx="6347543" cy="4319990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9"/>
          <p:cNvSpPr>
            <a:spLocks noGrp="1"/>
          </p:cNvSpPr>
          <p:nvPr>
            <p:ph sz="quarter" idx="24"/>
          </p:nvPr>
        </p:nvSpPr>
        <p:spPr>
          <a:xfrm>
            <a:off x="7499119" y="18834423"/>
            <a:ext cx="6347543" cy="4420125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4471585" y="12864337"/>
            <a:ext cx="6364763" cy="5140479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19"/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20" name="Content Placeholder 9"/>
          <p:cNvSpPr>
            <a:spLocks noGrp="1"/>
          </p:cNvSpPr>
          <p:nvPr>
            <p:ph sz="quarter" idx="20"/>
          </p:nvPr>
        </p:nvSpPr>
        <p:spPr>
          <a:xfrm>
            <a:off x="14471585" y="4493978"/>
            <a:ext cx="6364763" cy="7795771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9"/>
          <p:cNvSpPr>
            <a:spLocks noGrp="1"/>
          </p:cNvSpPr>
          <p:nvPr>
            <p:ph sz="quarter" idx="21"/>
          </p:nvPr>
        </p:nvSpPr>
        <p:spPr>
          <a:xfrm>
            <a:off x="14471584" y="18579406"/>
            <a:ext cx="6342801" cy="9435679"/>
          </a:xfrm>
          <a:prstGeom prst="rect">
            <a:avLst/>
          </a:prstGeom>
        </p:spPr>
        <p:txBody>
          <a:bodyPr/>
          <a:lstStyle>
            <a:lvl1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2988"/>
              </a:lnSpc>
              <a:spcBef>
                <a:spcPts val="0"/>
              </a:spcBef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1484986" indent="-296997">
              <a:lnSpc>
                <a:spcPts val="2988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1819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6462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276">
          <p15:clr>
            <a:srgbClr val="FBAE40"/>
          </p15:clr>
        </p15:guide>
        <p15:guide id="2" pos="374">
          <p15:clr>
            <a:srgbClr val="FBAE40"/>
          </p15:clr>
        </p15:guide>
        <p15:guide id="3" pos="13111">
          <p15:clr>
            <a:srgbClr val="FBAE40"/>
          </p15:clr>
        </p15:guide>
        <p15:guide id="4" orient="horz" pos="3460">
          <p15:clr>
            <a:srgbClr val="FBAE40"/>
          </p15:clr>
        </p15:guide>
        <p15:guide id="5" pos="8731">
          <p15:clr>
            <a:srgbClr val="FBAE40"/>
          </p15:clr>
        </p15:guide>
        <p15:guide id="6" pos="4350">
          <p15:clr>
            <a:srgbClr val="FBAE40"/>
          </p15:clr>
        </p15:guide>
        <p15:guide id="7" pos="4724">
          <p15:clr>
            <a:srgbClr val="FBAE40"/>
          </p15:clr>
        </p15:guide>
        <p15:guide id="8" pos="910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/>
          <p:cNvSpPr>
            <a:spLocks noChangeArrowheads="1"/>
          </p:cNvSpPr>
          <p:nvPr userDrawn="1"/>
        </p:nvSpPr>
        <p:spPr bwMode="auto">
          <a:xfrm>
            <a:off x="0" y="0"/>
            <a:ext cx="21383625" cy="378440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sz="1884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3626718"/>
            <a:ext cx="21383625" cy="1802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1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>
            <a:alphaModFix amt="5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0900" t="-7437" r="9841" b="42148"/>
          <a:stretch/>
        </p:blipFill>
        <p:spPr>
          <a:xfrm>
            <a:off x="15315317" y="580"/>
            <a:ext cx="6068308" cy="3626138"/>
          </a:xfrm>
          <a:prstGeom prst="rect">
            <a:avLst/>
          </a:prstGeom>
        </p:spPr>
      </p:pic>
      <p:sp>
        <p:nvSpPr>
          <p:cNvPr id="9" name="Rectangle 36"/>
          <p:cNvSpPr>
            <a:spLocks noChangeArrowheads="1"/>
          </p:cNvSpPr>
          <p:nvPr userDrawn="1"/>
        </p:nvSpPr>
        <p:spPr bwMode="auto">
          <a:xfrm>
            <a:off x="0" y="28544739"/>
            <a:ext cx="21383625" cy="173047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sz="1884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4177311" y="28839827"/>
            <a:ext cx="0" cy="1095485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17DCE874-55FD-6E85-8C20-22ACCA283D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28544739"/>
            <a:ext cx="3309967" cy="173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9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txStyles>
    <p:titleStyle>
      <a:lvl1pPr algn="l" defTabSz="791973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93" indent="-197993" algn="l" defTabSz="791973" rtl="0" eaLnBrk="1" latinLnBrk="0" hangingPunct="1">
        <a:lnSpc>
          <a:spcPct val="90000"/>
        </a:lnSpc>
        <a:spcBef>
          <a:spcPts val="866"/>
        </a:spcBef>
        <a:buFont typeface="Arial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979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989966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952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938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924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911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897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883" indent="-197993" algn="l" defTabSz="791973" rtl="0" eaLnBrk="1" latinLnBrk="0" hangingPunct="1">
        <a:lnSpc>
          <a:spcPct val="90000"/>
        </a:lnSpc>
        <a:spcBef>
          <a:spcPts val="433"/>
        </a:spcBef>
        <a:buFont typeface="Arial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86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973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959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945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931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918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904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890" algn="l" defTabSz="79197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  <p:sp>
        <p:nvSpPr>
          <p:cNvPr id="7" name="Rectangle 36">
            <a:extLst>
              <a:ext uri="{FF2B5EF4-FFF2-40B4-BE49-F238E27FC236}">
                <a16:creationId xmlns:a16="http://schemas.microsoft.com/office/drawing/2014/main" id="{B5FEBBAE-7D1F-CF99-10D9-52BF392E9E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21383625" cy="378440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sz="1884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F9EC3C-B36D-A434-13A6-21060DE90CB3}"/>
              </a:ext>
            </a:extLst>
          </p:cNvPr>
          <p:cNvSpPr/>
          <p:nvPr userDrawn="1"/>
        </p:nvSpPr>
        <p:spPr>
          <a:xfrm>
            <a:off x="0" y="3626718"/>
            <a:ext cx="21383625" cy="1802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1"/>
          </a:p>
        </p:txBody>
      </p:sp>
      <p:sp>
        <p:nvSpPr>
          <p:cNvPr id="10" name="Rectangle 36">
            <a:extLst>
              <a:ext uri="{FF2B5EF4-FFF2-40B4-BE49-F238E27FC236}">
                <a16:creationId xmlns:a16="http://schemas.microsoft.com/office/drawing/2014/main" id="{749E4BE2-EF95-8C82-1599-A7776BE235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8544739"/>
            <a:ext cx="21383625" cy="1730474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sz="1884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FC3B9F-3B9B-140A-071A-4BCB35F11C06}"/>
              </a:ext>
            </a:extLst>
          </p:cNvPr>
          <p:cNvCxnSpPr/>
          <p:nvPr userDrawn="1"/>
        </p:nvCxnSpPr>
        <p:spPr>
          <a:xfrm>
            <a:off x="14177311" y="28839827"/>
            <a:ext cx="0" cy="1095485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6">
            <a:extLst>
              <a:ext uri="{FF2B5EF4-FFF2-40B4-BE49-F238E27FC236}">
                <a16:creationId xmlns:a16="http://schemas.microsoft.com/office/drawing/2014/main" id="{C943F254-66A7-03CB-C87D-7A677EC4357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5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20900" t="-7437" r="9841" b="42148"/>
          <a:stretch/>
        </p:blipFill>
        <p:spPr>
          <a:xfrm>
            <a:off x="15315317" y="580"/>
            <a:ext cx="6068308" cy="362613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DF337D7-4949-4765-C43B-C871503586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1" y="28544739"/>
            <a:ext cx="3309967" cy="173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0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accent4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accent4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accent4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accent4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accent4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doi.org/10.2908/ILC_LI41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doi.org/10.1177/27526461221092429" TargetMode="External"/><Relationship Id="rId11" Type="http://schemas.openxmlformats.org/officeDocument/2006/relationships/image" Target="../media/image8.png"/><Relationship Id="rId5" Type="http://schemas.openxmlformats.org/officeDocument/2006/relationships/hyperlink" Target="https://doi.org/10.2908/EDAT_LFSE_22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doi.org/10.2908/EDAT_LFSE_16" TargetMode="Externa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>
            <a:extLst>
              <a:ext uri="{FF2B5EF4-FFF2-40B4-BE49-F238E27FC236}">
                <a16:creationId xmlns:a16="http://schemas.microsoft.com/office/drawing/2014/main" id="{1F976227-2327-0EF7-E5AF-65A514EB6B6B}"/>
              </a:ext>
            </a:extLst>
          </p:cNvPr>
          <p:cNvSpPr/>
          <p:nvPr/>
        </p:nvSpPr>
        <p:spPr>
          <a:xfrm>
            <a:off x="-43673" y="27158172"/>
            <a:ext cx="21427298" cy="3140001"/>
          </a:xfrm>
          <a:prstGeom prst="rect">
            <a:avLst/>
          </a:prstGeom>
          <a:solidFill>
            <a:srgbClr val="AD1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DE24173-8946-6FD4-56E6-6704FC54233D}"/>
              </a:ext>
            </a:extLst>
          </p:cNvPr>
          <p:cNvSpPr/>
          <p:nvPr/>
        </p:nvSpPr>
        <p:spPr>
          <a:xfrm>
            <a:off x="0" y="0"/>
            <a:ext cx="21383230" cy="3627120"/>
          </a:xfrm>
          <a:prstGeom prst="rect">
            <a:avLst/>
          </a:prstGeom>
          <a:solidFill>
            <a:srgbClr val="AD1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2" name="Poster Title">
            <a:extLst>
              <a:ext uri="{FF2B5EF4-FFF2-40B4-BE49-F238E27FC236}">
                <a16:creationId xmlns:a16="http://schemas.microsoft.com/office/drawing/2014/main" id="{122F9996-072B-864B-B6D4-4A5589C42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52" y="396974"/>
            <a:ext cx="15117631" cy="3096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9271" tIns="29631" rIns="59271" bIns="29631" anchor="b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defRPr/>
            </a:pPr>
            <a:r>
              <a:rPr lang="en-US" altLang="en-US" sz="5400" b="1" dirty="0">
                <a:solidFill>
                  <a:srgbClr val="FFFFFF"/>
                </a:solidFill>
                <a:latin typeface="Aharoni" panose="02010803020104030203" pitchFamily="2" charset="-79"/>
                <a:ea typeface="Arial" charset="0"/>
                <a:cs typeface="Aharoni" panose="02010803020104030203" pitchFamily="2" charset="-79"/>
              </a:rPr>
              <a:t>DID YOU GET WHAT YOU WANTED</a:t>
            </a:r>
            <a:r>
              <a:rPr lang="en-US" alt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?</a:t>
            </a:r>
            <a:r>
              <a:rPr lang="en-US" altLang="en-US" sz="5400" b="1" dirty="0">
                <a:solidFill>
                  <a:srgbClr val="FFFFFF"/>
                </a:solidFill>
                <a:latin typeface="Aharoni" panose="02010803020104030203" pitchFamily="2" charset="-79"/>
                <a:ea typeface="Arial" charset="0"/>
                <a:cs typeface="Aharoni" panose="02010803020104030203" pitchFamily="2" charset="-79"/>
              </a:rPr>
              <a:t> PERSPECTIVES ON FAIRNESS IN EDUCATION ACROSS EUROPE</a:t>
            </a:r>
            <a:endParaRPr lang="en-US" altLang="en-US" sz="5400" dirty="0">
              <a:solidFill>
                <a:srgbClr val="FFFFFF"/>
              </a:solidFill>
              <a:latin typeface="Aharoni" panose="02010803020104030203" pitchFamily="2" charset="-79"/>
              <a:ea typeface="Arial" charset="0"/>
              <a:cs typeface="Aharoni" panose="02010803020104030203" pitchFamily="2" charset="-79"/>
            </a:endParaRPr>
          </a:p>
          <a:p>
            <a:pPr>
              <a:spcBef>
                <a:spcPts val="390"/>
              </a:spcBef>
              <a:spcAft>
                <a:spcPts val="1169"/>
              </a:spcAft>
              <a:defRPr/>
            </a:pPr>
            <a:r>
              <a:rPr lang="en-US" altLang="en-US" sz="3200" dirty="0">
                <a:solidFill>
                  <a:srgbClr val="FFFFFF"/>
                </a:solidFill>
                <a:latin typeface="Bahnschrift" panose="020B0502040204020203" pitchFamily="34" charset="0"/>
                <a:ea typeface="Arial" charset="0"/>
                <a:cs typeface="Arial" panose="020B0604020202020204" pitchFamily="34" charset="0"/>
              </a:rPr>
              <a:t>Jonas Rackl &amp; Niklas Ippisch, Infra4NextGen </a:t>
            </a:r>
            <a:r>
              <a:rPr lang="en-US" altLang="en-US" sz="3200" dirty="0" err="1">
                <a:solidFill>
                  <a:srgbClr val="FFFFFF"/>
                </a:solidFill>
                <a:latin typeface="Bahnschrift" panose="020B0502040204020203" pitchFamily="34" charset="0"/>
                <a:ea typeface="Arial" charset="0"/>
                <a:cs typeface="Arial" panose="020B0604020202020204" pitchFamily="34" charset="0"/>
              </a:rPr>
              <a:t>Datathon</a:t>
            </a:r>
            <a:r>
              <a:rPr lang="en-US" altLang="en-US" sz="3200" dirty="0">
                <a:solidFill>
                  <a:srgbClr val="FFFFFF"/>
                </a:solidFill>
                <a:latin typeface="Bahnschrift" panose="020B0502040204020203" pitchFamily="34" charset="0"/>
                <a:ea typeface="Arial" charset="0"/>
                <a:cs typeface="Arial" panose="020B0604020202020204" pitchFamily="34" charset="0"/>
              </a:rPr>
              <a:t> (April 2026)</a:t>
            </a:r>
            <a:endParaRPr lang="en-US" altLang="en-US" sz="3200" dirty="0">
              <a:solidFill>
                <a:schemeClr val="bg1"/>
              </a:solidFill>
              <a:latin typeface="Bahnschrift" panose="020B0502040204020203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1" name="Introduction Textbox">
            <a:extLst>
              <a:ext uri="{FF2B5EF4-FFF2-40B4-BE49-F238E27FC236}">
                <a16:creationId xmlns:a16="http://schemas.microsoft.com/office/drawing/2014/main" id="{6CC485F0-7442-924B-A2B4-16DCD8374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52" y="6779438"/>
            <a:ext cx="7268312" cy="880305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algn="just">
              <a:lnSpc>
                <a:spcPts val="2624"/>
              </a:lnSpc>
              <a:spcAft>
                <a:spcPts val="1200"/>
              </a:spcAft>
            </a:pPr>
            <a:r>
              <a:rPr lang="en-US" sz="4000" dirty="0">
                <a:solidFill>
                  <a:schemeClr val="accent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📚 </a:t>
            </a:r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Background &amp; Motivation</a:t>
            </a:r>
            <a:endParaRPr lang="en-US" sz="2858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Discrepancy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between ‘objective’ education quality and perceived quality and fairness (Boyadjieva et al., 2024)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Regional variables 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also influence changes and might moderate associations (</a:t>
            </a:r>
            <a:r>
              <a:rPr lang="en-US" altLang="en-US" sz="2800" dirty="0" err="1">
                <a:latin typeface="Roboto" panose="02000000000000000000" pitchFamily="2" charset="0"/>
                <a:ea typeface="Roboto" panose="02000000000000000000" pitchFamily="2" charset="0"/>
              </a:rPr>
              <a:t>Boyadjieva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et al., 2024)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Access to (higher) education researched mostly with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individual characteristics 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like gender, race, and income (Naim, 2025)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Data Summary on Make it Strong indicates differences with respect to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age and educational background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(Stoilova et al., 2025)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🔎 To what extent do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people’s perceived chances of attaining the education they wanted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depend on their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own background 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and on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structural aspects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of their region?</a:t>
            </a:r>
          </a:p>
        </p:txBody>
      </p:sp>
      <p:cxnSp>
        <p:nvCxnSpPr>
          <p:cNvPr id="12" name="Horizontal Section Divider" descr="Horizontal Divider">
            <a:extLst>
              <a:ext uri="{FF2B5EF4-FFF2-40B4-BE49-F238E27FC236}">
                <a16:creationId xmlns:a16="http://schemas.microsoft.com/office/drawing/2014/main" id="{FA9CD980-CAA8-B247-B623-40A39BE5BEF8}"/>
              </a:ext>
            </a:extLst>
          </p:cNvPr>
          <p:cNvCxnSpPr>
            <a:cxnSpLocks/>
          </p:cNvCxnSpPr>
          <p:nvPr/>
        </p:nvCxnSpPr>
        <p:spPr bwMode="auto">
          <a:xfrm>
            <a:off x="369889" y="15752003"/>
            <a:ext cx="20474391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Methods Textbox">
            <a:extLst>
              <a:ext uri="{FF2B5EF4-FFF2-40B4-BE49-F238E27FC236}">
                <a16:creationId xmlns:a16="http://schemas.microsoft.com/office/drawing/2014/main" id="{5FBBC0B6-D787-D945-A995-B5D5A9D0A98B}"/>
              </a:ext>
            </a:extLst>
          </p:cNvPr>
          <p:cNvSpPr txBox="1"/>
          <p:nvPr/>
        </p:nvSpPr>
        <p:spPr>
          <a:xfrm>
            <a:off x="8225771" y="6779208"/>
            <a:ext cx="5971485" cy="426014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lnSpc>
                <a:spcPts val="2624"/>
              </a:lnSpc>
              <a:spcAft>
                <a:spcPts val="685"/>
              </a:spcAft>
              <a:defRPr/>
            </a:pPr>
            <a:r>
              <a:rPr lang="en-US" sz="4000" dirty="0">
                <a:solidFill>
                  <a:schemeClr val="accent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🛠️ </a:t>
            </a:r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Methods and Data</a:t>
            </a:r>
          </a:p>
          <a:p>
            <a:pPr marL="342900" indent="-342900">
              <a:lnSpc>
                <a:spcPts val="2988"/>
              </a:lnSpc>
              <a:spcAft>
                <a:spcPts val="1250"/>
              </a:spcAft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Linear Mixed Models </a:t>
            </a:r>
            <a:b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</a:b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with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three levels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:</a:t>
            </a:r>
          </a:p>
          <a:p>
            <a:pPr marL="549275" lvl="1" indent="169863">
              <a:lnSpc>
                <a:spcPts val="2988"/>
              </a:lnSpc>
              <a:spcAft>
                <a:spcPts val="125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Country (fixed effect)</a:t>
            </a:r>
          </a:p>
          <a:p>
            <a:pPr marL="549275" lvl="1" indent="169863">
              <a:lnSpc>
                <a:spcPts val="2988"/>
              </a:lnSpc>
              <a:spcAft>
                <a:spcPts val="125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Region (random effect)</a:t>
            </a:r>
          </a:p>
          <a:p>
            <a:pPr marL="549275" lvl="1" indent="169863">
              <a:lnSpc>
                <a:spcPts val="2988"/>
              </a:lnSpc>
              <a:spcAft>
                <a:spcPts val="125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Individual</a:t>
            </a:r>
          </a:p>
          <a:p>
            <a:pPr marL="342900" indent="-342900">
              <a:lnSpc>
                <a:spcPts val="2988"/>
              </a:lnSpc>
              <a:spcAft>
                <a:spcPts val="1250"/>
              </a:spcAft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robustness analysis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,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diagnostics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, and variable selection using the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BIC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applied</a:t>
            </a:r>
          </a:p>
        </p:txBody>
      </p:sp>
      <p:sp>
        <p:nvSpPr>
          <p:cNvPr id="4" name="Methods Textbox">
            <a:extLst>
              <a:ext uri="{FF2B5EF4-FFF2-40B4-BE49-F238E27FC236}">
                <a16:creationId xmlns:a16="http://schemas.microsoft.com/office/drawing/2014/main" id="{BCBBB5D7-5C3E-5C81-FA17-FB8DF26AF40D}"/>
              </a:ext>
            </a:extLst>
          </p:cNvPr>
          <p:cNvSpPr txBox="1"/>
          <p:nvPr/>
        </p:nvSpPr>
        <p:spPr>
          <a:xfrm>
            <a:off x="465652" y="24618997"/>
            <a:ext cx="20667600" cy="4625497"/>
          </a:xfrm>
          <a:prstGeom prst="rect">
            <a:avLst/>
          </a:prstGeom>
          <a:noFill/>
          <a:effectLst/>
        </p:spPr>
        <p:txBody>
          <a:bodyPr wrap="square" numCol="2">
            <a:spAutoFit/>
          </a:bodyPr>
          <a:lstStyle/>
          <a:p>
            <a:pPr>
              <a:lnSpc>
                <a:spcPts val="2624"/>
              </a:lnSpc>
              <a:spcAft>
                <a:spcPts val="1200"/>
              </a:spcAft>
              <a:defRPr/>
            </a:pPr>
            <a:r>
              <a:rPr lang="en-US" sz="4000" b="1" dirty="0">
                <a:solidFill>
                  <a:schemeClr val="accent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📑 </a:t>
            </a:r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Discussion</a:t>
            </a: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Findings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do not 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suggest strong influence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regional variables</a:t>
            </a: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Individual aspects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seem to be more important, especially concerning the childhood household</a:t>
            </a: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Gender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and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income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remain crucial factors</a:t>
            </a: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  <a:p>
            <a:pPr marL="342900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Results must be interpreted in context of some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limitations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:</a:t>
            </a:r>
          </a:p>
          <a:p>
            <a:pPr marL="903288" lvl="1" indent="-3175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missing data on regional level</a:t>
            </a:r>
          </a:p>
          <a:p>
            <a:pPr marL="903288" lvl="1" indent="-3175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small sample sizes in some regions</a:t>
            </a:r>
          </a:p>
          <a:p>
            <a:pPr indent="-653919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Further research: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small area methods 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(e.g., Fay-Harriot models) and focus on </a:t>
            </a:r>
            <a:r>
              <a:rPr 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educational quality 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in regions</a:t>
            </a:r>
          </a:p>
          <a:p>
            <a:pPr marL="903288" lvl="1" indent="-3175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  <a:p>
            <a:pPr marL="903288" lvl="1" indent="-3175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  <a:p>
            <a:pPr marL="1582607" lvl="1" indent="-342900">
              <a:lnSpc>
                <a:spcPts val="2988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</p:txBody>
      </p:sp>
      <p:sp>
        <p:nvSpPr>
          <p:cNvPr id="52" name="Contact information">
            <a:extLst>
              <a:ext uri="{FF2B5EF4-FFF2-40B4-BE49-F238E27FC236}">
                <a16:creationId xmlns:a16="http://schemas.microsoft.com/office/drawing/2014/main" id="{33C51104-5F23-F27C-9524-81046F1A8BFC}"/>
              </a:ext>
            </a:extLst>
          </p:cNvPr>
          <p:cNvSpPr/>
          <p:nvPr/>
        </p:nvSpPr>
        <p:spPr>
          <a:xfrm>
            <a:off x="26813" y="27244640"/>
            <a:ext cx="21383230" cy="330973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sz="1400" b="1" i="0" noProof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References</a:t>
            </a:r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Boyadjieva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P., Haralampiev, K., &amp; Ilieva-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Trichkova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P. (2024). Social Justice Profiles: An Exploratory Study towards an Empirically Based Multi-Dimensional Classification of Countries Regarding Fairness of Participation in </a:t>
            </a:r>
            <a:b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Higher Education. Societies, 14(4), 44. https://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doi.org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/10.3390/soc14040044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European Social Survey European Research Infrastructure (ESS ERIC) (2025a) CRONOS-3 Wave 1 edition 1.4 [Data set]. 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Sikt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Norwegian Agency for Shared Services in Education and Research. https://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doi.org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/10.21338/cron3w1e01_4.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ESS ERIC (2025b) CRONOS-3 Wave 3 edition 1.1 [Data set]. 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Sikt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Norwegian Agency for Shared Services in Education and Research. https://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doi.org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/10.21338/cron3w3e01_1.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ESS ERIC (2025c) CRONOS-3 Wave 5 edition 1.0 [Data set]. 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Sikt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Norwegian Agency for Shared Services in Education and Research. https://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doi.org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/10.21338/cron3w5e01.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Eurostat (2026a). At-risk-of-poverty rate by NUTS 2 region. ilc_li41 [Data set]. 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https://doi.org/10.2908/ILC_LI41</a:t>
            </a:r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Eurostat (2026b). Early leavers from education and training by NUTS 2 region. edat_lfse_16 [Data set]. 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https://doi.org/10.2908/EDAT_LFSE_16</a:t>
            </a:r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Eurostat (2026c). Young persons neither in employment nor in education and training by NUTS 2 region. edat_lfse_22 [Data set]. 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https://doi.org/10.2908/EDAT_LFSE_22</a:t>
            </a:r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Naim. A. (2025). Equity across the educational spectrum: innovations in educational access crosswise all levels. Frontiers in Education, 9, https://</a:t>
            </a: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doi.org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/10.3389/feduc.2024.1499642 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Stoilova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R., Ilieva, P., &amp; Velichkov, M. (2025). Building a Resilient Europe. Make it Strong Data Summary. Infra4NextGen Project.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Wanti, M., Wesselink, R., Biemans, H., &amp; den Brok, P. (2022). Determining factors of access and equity in higher education: A systematic review. Equity in Education &amp; Society, 1(2), 279-296. </a:t>
            </a:r>
            <a:b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https://doi.org/10.1177/27526461221092429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			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							         This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work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licensed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under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CC BY 4.0.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view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copy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license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https://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creativecommons.org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licenses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lang="de-DE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by</a:t>
            </a:r>
            <a:r>
              <a:rPr lang="de-DE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/4.0/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endParaRPr lang="en-US" sz="1400" b="0" i="0" noProof="0" dirty="0"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ontact information">
            <a:extLst>
              <a:ext uri="{FF2B5EF4-FFF2-40B4-BE49-F238E27FC236}">
                <a16:creationId xmlns:a16="http://schemas.microsoft.com/office/drawing/2014/main" id="{FA863AD8-0B2F-C4CF-640F-400A2E2C9C48}"/>
              </a:ext>
            </a:extLst>
          </p:cNvPr>
          <p:cNvSpPr/>
          <p:nvPr/>
        </p:nvSpPr>
        <p:spPr>
          <a:xfrm>
            <a:off x="19244732" y="27427670"/>
            <a:ext cx="2080521" cy="36995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GB" sz="18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GitHub Repository</a:t>
            </a:r>
            <a:endParaRPr lang="en-GB" sz="18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10CFF8E-AD59-BCFF-271A-5A2A7DB2495D}"/>
              </a:ext>
            </a:extLst>
          </p:cNvPr>
          <p:cNvSpPr txBox="1"/>
          <p:nvPr/>
        </p:nvSpPr>
        <p:spPr>
          <a:xfrm>
            <a:off x="465652" y="16469249"/>
            <a:ext cx="6828284" cy="7905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24"/>
              </a:lnSpc>
              <a:spcAft>
                <a:spcPts val="1200"/>
              </a:spcAft>
            </a:pPr>
            <a:r>
              <a:rPr lang="en-US" sz="4000" dirty="0">
                <a:solidFill>
                  <a:schemeClr val="accent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📊 </a:t>
            </a:r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Results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Variables concerning the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family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b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(i.e., feeling safe, conflicts and financial difficulties) in youth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significantly associated 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for perceived fairness of education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Results also emphasize existing association with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current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income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Close association with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own education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: The more I am satisfied with my own education, the fairer I perceive my chances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Female respondents 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tend to perceive educational chances as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less fair</a:t>
            </a:r>
          </a:p>
          <a:p>
            <a:pPr marL="342900" indent="-342900" algn="just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Regional attributes 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have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almost no predictive power</a:t>
            </a:r>
          </a:p>
        </p:txBody>
      </p:sp>
      <p:cxnSp>
        <p:nvCxnSpPr>
          <p:cNvPr id="44" name="Horizontal Section Divider" descr="Horizontal Divider">
            <a:extLst>
              <a:ext uri="{FF2B5EF4-FFF2-40B4-BE49-F238E27FC236}">
                <a16:creationId xmlns:a16="http://schemas.microsoft.com/office/drawing/2014/main" id="{ED3133C5-C133-88E7-8D83-FB719112CFF2}"/>
              </a:ext>
            </a:extLst>
          </p:cNvPr>
          <p:cNvCxnSpPr>
            <a:cxnSpLocks/>
          </p:cNvCxnSpPr>
          <p:nvPr/>
        </p:nvCxnSpPr>
        <p:spPr bwMode="auto">
          <a:xfrm>
            <a:off x="8037360" y="6681406"/>
            <a:ext cx="0" cy="873938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32" name="Grafik 31">
            <a:extLst>
              <a:ext uri="{FF2B5EF4-FFF2-40B4-BE49-F238E27FC236}">
                <a16:creationId xmlns:a16="http://schemas.microsoft.com/office/drawing/2014/main" id="{7E512F49-62D0-F087-2899-0BE684B8BCA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6626594" y="257505"/>
            <a:ext cx="4152900" cy="1663700"/>
          </a:xfrm>
          <a:prstGeom prst="rect">
            <a:avLst/>
          </a:prstGeom>
        </p:spPr>
      </p:pic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0CAAB848-3D25-6202-2077-DD4DF0C5B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385460"/>
              </p:ext>
            </p:extLst>
          </p:nvPr>
        </p:nvGraphicFramePr>
        <p:xfrm>
          <a:off x="8629660" y="11281523"/>
          <a:ext cx="11970903" cy="42062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799800">
                  <a:extLst>
                    <a:ext uri="{9D8B030D-6E8A-4147-A177-3AD203B41FA5}">
                      <a16:colId xmlns:a16="http://schemas.microsoft.com/office/drawing/2014/main" val="771349502"/>
                    </a:ext>
                  </a:extLst>
                </a:gridCol>
                <a:gridCol w="2243982">
                  <a:extLst>
                    <a:ext uri="{9D8B030D-6E8A-4147-A177-3AD203B41FA5}">
                      <a16:colId xmlns:a16="http://schemas.microsoft.com/office/drawing/2014/main" val="1857183667"/>
                    </a:ext>
                  </a:extLst>
                </a:gridCol>
                <a:gridCol w="6927121">
                  <a:extLst>
                    <a:ext uri="{9D8B030D-6E8A-4147-A177-3AD203B41FA5}">
                      <a16:colId xmlns:a16="http://schemas.microsoft.com/office/drawing/2014/main" val="15137864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Dataset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Pillar / 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Items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0722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CRONOS-3 (Wave 1) </a:t>
                      </a:r>
                      <a:r>
                        <a:rPr lang="en-US" sz="18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(ESS ERIC, 2025a)</a:t>
                      </a:r>
                      <a:endParaRPr lang="en-US" sz="24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Make it </a:t>
                      </a:r>
                      <a:r>
                        <a:rPr lang="en-US" sz="2000" b="1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Strong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Perceived fairness of own education</a:t>
                      </a:r>
                    </a:p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Satisfaction with own education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3120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CRONOS-3 (Wave 3)</a:t>
                      </a:r>
                      <a:br>
                        <a:rPr lang="en-US" sz="24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</a:br>
                      <a:r>
                        <a:rPr lang="en-US" sz="18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(ESS ERIC, 2025b)</a:t>
                      </a:r>
                      <a:endParaRPr lang="en-US" sz="24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Make it </a:t>
                      </a:r>
                      <a:r>
                        <a:rPr lang="en-US" sz="2000" b="1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Strong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Current occupation matches education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2142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CRONOS-3 (Wave 5) </a:t>
                      </a:r>
                      <a:r>
                        <a:rPr lang="en-US" sz="18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(ESS ERIC, 2025c)</a:t>
                      </a:r>
                      <a:endParaRPr lang="en-US" sz="24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Make it </a:t>
                      </a:r>
                      <a:r>
                        <a:rPr lang="en-US" sz="2000" b="1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Healthy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Felt safe with at least one carer in first 18 years</a:t>
                      </a:r>
                    </a:p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Serious conflict in household in first 18 years</a:t>
                      </a:r>
                    </a:p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Severe financial difficulties in family first 18 years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9301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Eurostat</a:t>
                      </a:r>
                      <a:r>
                        <a:rPr lang="en-US" sz="24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8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(2026a)</a:t>
                      </a:r>
                      <a:endParaRPr lang="en-US" sz="24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ilc_li41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Regional At-risk-of-poverty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728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Eurostat</a:t>
                      </a:r>
                      <a:r>
                        <a:rPr lang="en-US" sz="24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8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(2026b)</a:t>
                      </a:r>
                      <a:endParaRPr lang="en-US" sz="24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edat_lfse_16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Regional early leavers from education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8596884"/>
                  </a:ext>
                </a:extLst>
              </a:tr>
              <a:tr h="215890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Eurostat</a:t>
                      </a:r>
                      <a:r>
                        <a:rPr lang="en-US" sz="24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8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(2026c)</a:t>
                      </a:r>
                      <a:endParaRPr lang="en-US" sz="24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edat_lfse_22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 Regional young NEET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4762715"/>
                  </a:ext>
                </a:extLst>
              </a:tr>
            </a:tbl>
          </a:graphicData>
        </a:graphic>
      </p:graphicFrame>
      <p:cxnSp>
        <p:nvCxnSpPr>
          <p:cNvPr id="46" name="Horizontal Section Divider" descr="Horizontal Divider">
            <a:extLst>
              <a:ext uri="{FF2B5EF4-FFF2-40B4-BE49-F238E27FC236}">
                <a16:creationId xmlns:a16="http://schemas.microsoft.com/office/drawing/2014/main" id="{078C5412-3219-B8B9-8F1D-A30610F02203}"/>
              </a:ext>
            </a:extLst>
          </p:cNvPr>
          <p:cNvCxnSpPr>
            <a:cxnSpLocks/>
          </p:cNvCxnSpPr>
          <p:nvPr/>
        </p:nvCxnSpPr>
        <p:spPr bwMode="auto">
          <a:xfrm>
            <a:off x="489800" y="24366114"/>
            <a:ext cx="20643452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1C0B96D6-C889-08A1-34B8-382AD96139DC}"/>
              </a:ext>
            </a:extLst>
          </p:cNvPr>
          <p:cNvSpPr txBox="1"/>
          <p:nvPr/>
        </p:nvSpPr>
        <p:spPr>
          <a:xfrm>
            <a:off x="7733966" y="23518621"/>
            <a:ext cx="13216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Figure 2: Regression coefficients of linear mixed model. Error bars indicate 95% confidence interval. </a:t>
            </a:r>
            <a:r>
              <a:rPr lang="en-US" sz="1800" noProof="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w1pspweight</a:t>
            </a:r>
            <a: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applied. </a:t>
            </a:r>
            <a:b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800" i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Note</a:t>
            </a:r>
            <a: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In the model, fixed effects for countries (dummy variables) are included as well but not depicted here (own calculations).</a:t>
            </a:r>
          </a:p>
        </p:txBody>
      </p:sp>
      <p:sp>
        <p:nvSpPr>
          <p:cNvPr id="57" name="Introduction Textbox">
            <a:extLst>
              <a:ext uri="{FF2B5EF4-FFF2-40B4-BE49-F238E27FC236}">
                <a16:creationId xmlns:a16="http://schemas.microsoft.com/office/drawing/2014/main" id="{5A15CBDE-004D-8BA7-47F1-6D58DB926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66" y="4068197"/>
            <a:ext cx="20553197" cy="221150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lnSpc>
                <a:spcPts val="2624"/>
              </a:lnSpc>
              <a:spcAft>
                <a:spcPts val="1200"/>
              </a:spcAft>
            </a:pPr>
            <a:r>
              <a:rPr lang="en-US" sz="4000" dirty="0">
                <a:solidFill>
                  <a:schemeClr val="accent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⚡️ </a:t>
            </a:r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Key Takeaways</a:t>
            </a:r>
            <a:endParaRPr lang="en-US" sz="2858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indent="-342900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Perceived chances to attain the education one wants vary based on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individual (household) characteristics</a:t>
            </a:r>
          </a:p>
          <a:p>
            <a:pPr marL="342900" indent="-342900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Policy-Makers should not just focus on aspects directly related to education, but especially on those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related to the household</a:t>
            </a:r>
          </a:p>
          <a:p>
            <a:pPr marL="342900" indent="-342900">
              <a:lnSpc>
                <a:spcPts val="3508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Structural variables </a:t>
            </a:r>
            <a:r>
              <a:rPr lang="en-US" altLang="en-US" sz="2800" dirty="0">
                <a:latin typeface="Roboto" panose="02000000000000000000" pitchFamily="2" charset="0"/>
                <a:ea typeface="Roboto" panose="02000000000000000000" pitchFamily="2" charset="0"/>
              </a:rPr>
              <a:t>like the youth unemployment seem to have </a:t>
            </a:r>
            <a:r>
              <a:rPr lang="en-US" altLang="en-US" sz="28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 strong association</a:t>
            </a:r>
          </a:p>
        </p:txBody>
      </p:sp>
      <p:cxnSp>
        <p:nvCxnSpPr>
          <p:cNvPr id="58" name="Horizontal Section Divider" descr="Horizontal Divider">
            <a:extLst>
              <a:ext uri="{FF2B5EF4-FFF2-40B4-BE49-F238E27FC236}">
                <a16:creationId xmlns:a16="http://schemas.microsoft.com/office/drawing/2014/main" id="{FA420535-A657-23B5-1AF7-89DAB0EC1969}"/>
              </a:ext>
            </a:extLst>
          </p:cNvPr>
          <p:cNvCxnSpPr>
            <a:cxnSpLocks/>
          </p:cNvCxnSpPr>
          <p:nvPr/>
        </p:nvCxnSpPr>
        <p:spPr bwMode="auto">
          <a:xfrm>
            <a:off x="520166" y="6292092"/>
            <a:ext cx="2032489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131" name="Grafik 130">
            <a:extLst>
              <a:ext uri="{FF2B5EF4-FFF2-40B4-BE49-F238E27FC236}">
                <a16:creationId xmlns:a16="http://schemas.microsoft.com/office/drawing/2014/main" id="{79605E92-B193-6EB0-4ADB-BB8E35D17F3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41" t="4784" r="1080" b="2406"/>
          <a:stretch>
            <a:fillRect/>
          </a:stretch>
        </p:blipFill>
        <p:spPr>
          <a:xfrm>
            <a:off x="20162154" y="29871001"/>
            <a:ext cx="1234680" cy="426061"/>
          </a:xfrm>
          <a:prstGeom prst="rect">
            <a:avLst/>
          </a:prstGeom>
        </p:spPr>
      </p:pic>
      <p:sp>
        <p:nvSpPr>
          <p:cNvPr id="137" name="Textfeld 136">
            <a:extLst>
              <a:ext uri="{FF2B5EF4-FFF2-40B4-BE49-F238E27FC236}">
                <a16:creationId xmlns:a16="http://schemas.microsoft.com/office/drawing/2014/main" id="{DFB7533F-E5D9-0997-18CC-1DE6E8EC593C}"/>
              </a:ext>
            </a:extLst>
          </p:cNvPr>
          <p:cNvSpPr txBox="1"/>
          <p:nvPr/>
        </p:nvSpPr>
        <p:spPr>
          <a:xfrm>
            <a:off x="14075773" y="10448093"/>
            <a:ext cx="6728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Figure 1: mean perceived fairness by gender (own calculations)</a:t>
            </a:r>
            <a:b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800" i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Note: x-axis adjusted for better visibility</a:t>
            </a:r>
          </a:p>
        </p:txBody>
      </p:sp>
      <p:grpSp>
        <p:nvGrpSpPr>
          <p:cNvPr id="180" name="Gruppieren 179">
            <a:extLst>
              <a:ext uri="{FF2B5EF4-FFF2-40B4-BE49-F238E27FC236}">
                <a16:creationId xmlns:a16="http://schemas.microsoft.com/office/drawing/2014/main" id="{8E59BD49-C444-2D09-D120-BCF7D03A063C}"/>
              </a:ext>
            </a:extLst>
          </p:cNvPr>
          <p:cNvGrpSpPr/>
          <p:nvPr/>
        </p:nvGrpSpPr>
        <p:grpSpPr>
          <a:xfrm>
            <a:off x="13882912" y="6446298"/>
            <a:ext cx="6961368" cy="3948762"/>
            <a:chOff x="13882912" y="6358616"/>
            <a:chExt cx="6961368" cy="3948762"/>
          </a:xfrm>
        </p:grpSpPr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20D9CACF-30E4-CA18-16B8-813D81AE9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6290"/>
            <a:stretch>
              <a:fillRect/>
            </a:stretch>
          </p:blipFill>
          <p:spPr>
            <a:xfrm>
              <a:off x="14102136" y="6358616"/>
              <a:ext cx="6742144" cy="3948762"/>
            </a:xfrm>
            <a:prstGeom prst="rect">
              <a:avLst/>
            </a:prstGeom>
          </p:spPr>
        </p:pic>
        <p:sp>
          <p:nvSpPr>
            <p:cNvPr id="144" name="Textfeld 143">
              <a:extLst>
                <a:ext uri="{FF2B5EF4-FFF2-40B4-BE49-F238E27FC236}">
                  <a16:creationId xmlns:a16="http://schemas.microsoft.com/office/drawing/2014/main" id="{79A73576-F283-8CC4-94E4-EBA0F884D060}"/>
                </a:ext>
              </a:extLst>
            </p:cNvPr>
            <p:cNvSpPr txBox="1"/>
            <p:nvPr/>
          </p:nvSpPr>
          <p:spPr>
            <a:xfrm>
              <a:off x="13882912" y="7046684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🇦🇹</a:t>
              </a:r>
              <a:endParaRPr lang="de-DE" sz="1050" dirty="0"/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8B86430E-263E-7649-2475-BE5B845CC1D2}"/>
                </a:ext>
              </a:extLst>
            </p:cNvPr>
            <p:cNvSpPr txBox="1"/>
            <p:nvPr/>
          </p:nvSpPr>
          <p:spPr>
            <a:xfrm>
              <a:off x="13882915" y="7322453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🇧🇪</a:t>
              </a:r>
              <a:endParaRPr lang="de-DE" sz="1050" dirty="0"/>
            </a:p>
          </p:txBody>
        </p:sp>
        <p:sp>
          <p:nvSpPr>
            <p:cNvPr id="146" name="Textfeld 145">
              <a:extLst>
                <a:ext uri="{FF2B5EF4-FFF2-40B4-BE49-F238E27FC236}">
                  <a16:creationId xmlns:a16="http://schemas.microsoft.com/office/drawing/2014/main" id="{38755C79-3FE7-C15B-8A00-B4AED9854FBB}"/>
                </a:ext>
              </a:extLst>
            </p:cNvPr>
            <p:cNvSpPr txBox="1"/>
            <p:nvPr/>
          </p:nvSpPr>
          <p:spPr>
            <a:xfrm>
              <a:off x="13882915" y="7619995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🇫🇮</a:t>
              </a:r>
              <a:endParaRPr lang="de-DE" sz="1050" dirty="0"/>
            </a:p>
          </p:txBody>
        </p:sp>
        <p:sp>
          <p:nvSpPr>
            <p:cNvPr id="147" name="Textfeld 146">
              <a:extLst>
                <a:ext uri="{FF2B5EF4-FFF2-40B4-BE49-F238E27FC236}">
                  <a16:creationId xmlns:a16="http://schemas.microsoft.com/office/drawing/2014/main" id="{8B0424FB-7519-4627-69BE-CA71EACF15D0}"/>
                </a:ext>
              </a:extLst>
            </p:cNvPr>
            <p:cNvSpPr txBox="1"/>
            <p:nvPr/>
          </p:nvSpPr>
          <p:spPr>
            <a:xfrm>
              <a:off x="13882915" y="7888510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🇸🇮</a:t>
              </a:r>
              <a:endParaRPr lang="de-DE" sz="1050" dirty="0"/>
            </a:p>
          </p:txBody>
        </p:sp>
        <p:sp>
          <p:nvSpPr>
            <p:cNvPr id="148" name="Textfeld 147">
              <a:extLst>
                <a:ext uri="{FF2B5EF4-FFF2-40B4-BE49-F238E27FC236}">
                  <a16:creationId xmlns:a16="http://schemas.microsoft.com/office/drawing/2014/main" id="{E7DA2480-C09A-61C7-2E9F-95EE7F44CA1B}"/>
                </a:ext>
              </a:extLst>
            </p:cNvPr>
            <p:cNvSpPr txBox="1"/>
            <p:nvPr/>
          </p:nvSpPr>
          <p:spPr>
            <a:xfrm>
              <a:off x="13882915" y="8164283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🇨🇿</a:t>
              </a:r>
              <a:endParaRPr lang="de-DE" sz="1050" dirty="0"/>
            </a:p>
          </p:txBody>
        </p:sp>
        <p:sp>
          <p:nvSpPr>
            <p:cNvPr id="149" name="Textfeld 148">
              <a:extLst>
                <a:ext uri="{FF2B5EF4-FFF2-40B4-BE49-F238E27FC236}">
                  <a16:creationId xmlns:a16="http://schemas.microsoft.com/office/drawing/2014/main" id="{DFBF41DB-6F00-A6DE-1EE0-99D177CA7963}"/>
                </a:ext>
              </a:extLst>
            </p:cNvPr>
            <p:cNvSpPr txBox="1"/>
            <p:nvPr/>
          </p:nvSpPr>
          <p:spPr>
            <a:xfrm>
              <a:off x="13882915" y="8440052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🇬🇧</a:t>
              </a:r>
              <a:endParaRPr lang="de-DE" sz="1050" dirty="0"/>
            </a:p>
          </p:txBody>
        </p:sp>
        <p:sp>
          <p:nvSpPr>
            <p:cNvPr id="150" name="Textfeld 149">
              <a:extLst>
                <a:ext uri="{FF2B5EF4-FFF2-40B4-BE49-F238E27FC236}">
                  <a16:creationId xmlns:a16="http://schemas.microsoft.com/office/drawing/2014/main" id="{DC7EB82A-908C-517E-80F8-7259C50EC77F}"/>
                </a:ext>
              </a:extLst>
            </p:cNvPr>
            <p:cNvSpPr txBox="1"/>
            <p:nvPr/>
          </p:nvSpPr>
          <p:spPr>
            <a:xfrm>
              <a:off x="13882915" y="8715821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🇮🇸</a:t>
              </a:r>
              <a:endParaRPr lang="de-DE" sz="1050" dirty="0"/>
            </a:p>
          </p:txBody>
        </p:sp>
        <p:sp>
          <p:nvSpPr>
            <p:cNvPr id="151" name="Textfeld 150">
              <a:extLst>
                <a:ext uri="{FF2B5EF4-FFF2-40B4-BE49-F238E27FC236}">
                  <a16:creationId xmlns:a16="http://schemas.microsoft.com/office/drawing/2014/main" id="{825A1B1A-5580-85B5-3753-C62B68ADC97D}"/>
                </a:ext>
              </a:extLst>
            </p:cNvPr>
            <p:cNvSpPr txBox="1"/>
            <p:nvPr/>
          </p:nvSpPr>
          <p:spPr>
            <a:xfrm>
              <a:off x="13882915" y="8984334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🇭🇺</a:t>
              </a:r>
              <a:endParaRPr lang="de-DE" sz="1050" dirty="0"/>
            </a:p>
          </p:txBody>
        </p:sp>
        <p:sp>
          <p:nvSpPr>
            <p:cNvPr id="152" name="Textfeld 151">
              <a:extLst>
                <a:ext uri="{FF2B5EF4-FFF2-40B4-BE49-F238E27FC236}">
                  <a16:creationId xmlns:a16="http://schemas.microsoft.com/office/drawing/2014/main" id="{B4F72F43-7C95-71AB-756F-8EC9995FA9CF}"/>
                </a:ext>
              </a:extLst>
            </p:cNvPr>
            <p:cNvSpPr txBox="1"/>
            <p:nvPr/>
          </p:nvSpPr>
          <p:spPr>
            <a:xfrm>
              <a:off x="13882915" y="9267361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🇫🇷</a:t>
              </a:r>
              <a:endParaRPr lang="de-DE" sz="1050" dirty="0"/>
            </a:p>
          </p:txBody>
        </p:sp>
        <p:sp>
          <p:nvSpPr>
            <p:cNvPr id="153" name="Textfeld 152">
              <a:extLst>
                <a:ext uri="{FF2B5EF4-FFF2-40B4-BE49-F238E27FC236}">
                  <a16:creationId xmlns:a16="http://schemas.microsoft.com/office/drawing/2014/main" id="{035E5012-E789-4329-3D90-054F0F91BC75}"/>
                </a:ext>
              </a:extLst>
            </p:cNvPr>
            <p:cNvSpPr txBox="1"/>
            <p:nvPr/>
          </p:nvSpPr>
          <p:spPr>
            <a:xfrm>
              <a:off x="13882915" y="9543131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🇵🇱</a:t>
              </a:r>
              <a:endParaRPr lang="de-DE" sz="1050" dirty="0"/>
            </a:p>
          </p:txBody>
        </p:sp>
        <p:sp>
          <p:nvSpPr>
            <p:cNvPr id="154" name="Textfeld 153">
              <a:extLst>
                <a:ext uri="{FF2B5EF4-FFF2-40B4-BE49-F238E27FC236}">
                  <a16:creationId xmlns:a16="http://schemas.microsoft.com/office/drawing/2014/main" id="{E0B8B658-5B08-12FA-04A8-9F4F81C89207}"/>
                </a:ext>
              </a:extLst>
            </p:cNvPr>
            <p:cNvSpPr txBox="1"/>
            <p:nvPr/>
          </p:nvSpPr>
          <p:spPr>
            <a:xfrm>
              <a:off x="13882915" y="9818900"/>
              <a:ext cx="40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🇵🇹</a:t>
              </a:r>
              <a:endParaRPr lang="de-DE" sz="1050" dirty="0"/>
            </a:p>
          </p:txBody>
        </p:sp>
      </p:grpSp>
      <p:pic>
        <p:nvPicPr>
          <p:cNvPr id="156" name="Grafik 155">
            <a:extLst>
              <a:ext uri="{FF2B5EF4-FFF2-40B4-BE49-F238E27FC236}">
                <a16:creationId xmlns:a16="http://schemas.microsoft.com/office/drawing/2014/main" id="{28FF8625-8E72-C2EF-189E-F70546DA77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8846" y="16031304"/>
            <a:ext cx="13025433" cy="7169108"/>
          </a:xfrm>
          <a:prstGeom prst="rect">
            <a:avLst/>
          </a:prstGeom>
        </p:spPr>
      </p:pic>
      <p:sp>
        <p:nvSpPr>
          <p:cNvPr id="158" name="Textfeld 157">
            <a:extLst>
              <a:ext uri="{FF2B5EF4-FFF2-40B4-BE49-F238E27FC236}">
                <a16:creationId xmlns:a16="http://schemas.microsoft.com/office/drawing/2014/main" id="{35A1FD87-19F9-789C-6A67-A92CE1DDF5AC}"/>
              </a:ext>
            </a:extLst>
          </p:cNvPr>
          <p:cNvSpPr txBox="1"/>
          <p:nvPr/>
        </p:nvSpPr>
        <p:spPr>
          <a:xfrm>
            <a:off x="11526542" y="19510121"/>
            <a:ext cx="3200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noProof="0" dirty="0"/>
              <a:t>regional predictors almost 0 and </a:t>
            </a:r>
            <a:br>
              <a:rPr lang="en-US" sz="1800" noProof="0" dirty="0"/>
            </a:br>
            <a:r>
              <a:rPr lang="en-US" sz="1800" noProof="0" dirty="0"/>
              <a:t>insignificant</a:t>
            </a:r>
          </a:p>
        </p:txBody>
      </p:sp>
      <p:sp>
        <p:nvSpPr>
          <p:cNvPr id="160" name="Geschweifte Klammer rechts 159">
            <a:extLst>
              <a:ext uri="{FF2B5EF4-FFF2-40B4-BE49-F238E27FC236}">
                <a16:creationId xmlns:a16="http://schemas.microsoft.com/office/drawing/2014/main" id="{78B11760-2D0C-3821-08D7-5DCD6EF76CC2}"/>
              </a:ext>
            </a:extLst>
          </p:cNvPr>
          <p:cNvSpPr/>
          <p:nvPr/>
        </p:nvSpPr>
        <p:spPr>
          <a:xfrm>
            <a:off x="10997852" y="19127244"/>
            <a:ext cx="360000" cy="1365337"/>
          </a:xfrm>
          <a:prstGeom prst="rightBrace">
            <a:avLst>
              <a:gd name="adj1" fmla="val 17467"/>
              <a:gd name="adj2" fmla="val 5091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3" name="Geschweifte Klammer rechts 162">
            <a:extLst>
              <a:ext uri="{FF2B5EF4-FFF2-40B4-BE49-F238E27FC236}">
                <a16:creationId xmlns:a16="http://schemas.microsoft.com/office/drawing/2014/main" id="{F47E11FC-81E5-F1E4-3C8A-FDBFAFEBA386}"/>
              </a:ext>
            </a:extLst>
          </p:cNvPr>
          <p:cNvSpPr/>
          <p:nvPr/>
        </p:nvSpPr>
        <p:spPr>
          <a:xfrm rot="10800000">
            <a:off x="14895534" y="19133922"/>
            <a:ext cx="360000" cy="1365337"/>
          </a:xfrm>
          <a:prstGeom prst="rightBrace">
            <a:avLst>
              <a:gd name="adj1" fmla="val 17467"/>
              <a:gd name="adj2" fmla="val 5091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5E261B3-9A5F-661B-39C4-CCAD43233DA6}"/>
              </a:ext>
            </a:extLst>
          </p:cNvPr>
          <p:cNvSpPr txBox="1"/>
          <p:nvPr/>
        </p:nvSpPr>
        <p:spPr>
          <a:xfrm>
            <a:off x="19244732" y="29334492"/>
            <a:ext cx="21120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chemeClr val="bg1"/>
                </a:solidFill>
              </a:rPr>
              <a:t>https://</a:t>
            </a:r>
            <a:r>
              <a:rPr lang="de-DE" sz="1100" dirty="0" err="1">
                <a:solidFill>
                  <a:schemeClr val="bg1"/>
                </a:solidFill>
              </a:rPr>
              <a:t>github.com</a:t>
            </a:r>
            <a:r>
              <a:rPr lang="de-DE" sz="1100" dirty="0">
                <a:solidFill>
                  <a:schemeClr val="bg1"/>
                </a:solidFill>
              </a:rPr>
              <a:t>/</a:t>
            </a:r>
            <a:r>
              <a:rPr lang="de-DE" sz="1100" dirty="0" err="1">
                <a:solidFill>
                  <a:schemeClr val="bg1"/>
                </a:solidFill>
              </a:rPr>
              <a:t>nippisch</a:t>
            </a:r>
            <a:r>
              <a:rPr lang="de-DE" sz="1100" dirty="0">
                <a:solidFill>
                  <a:schemeClr val="bg1"/>
                </a:solidFill>
              </a:rPr>
              <a:t>/</a:t>
            </a:r>
            <a:br>
              <a:rPr lang="de-DE" sz="1100" dirty="0">
                <a:solidFill>
                  <a:schemeClr val="bg1"/>
                </a:solidFill>
              </a:rPr>
            </a:br>
            <a:r>
              <a:rPr lang="de-DE" sz="1100" dirty="0" err="1">
                <a:solidFill>
                  <a:schemeClr val="bg1"/>
                </a:solidFill>
              </a:rPr>
              <a:t>datathon_make_it_strong</a:t>
            </a:r>
            <a:endParaRPr lang="de-DE" sz="1100" dirty="0">
              <a:solidFill>
                <a:schemeClr val="bg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D02E028-8DFF-BCE0-D49A-60DE2800BF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90771" y="27775430"/>
            <a:ext cx="1620000" cy="1620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B37F003-C545-6E1E-957C-D754941DAA3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918365" y="2110050"/>
            <a:ext cx="1861129" cy="131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90291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 Poster Template">
  <a:themeElements>
    <a:clrScheme name="LMU 1">
      <a:dk1>
        <a:srgbClr val="232323"/>
      </a:dk1>
      <a:lt1>
        <a:srgbClr val="FFFFFF"/>
      </a:lt1>
      <a:dk2>
        <a:srgbClr val="005BBB"/>
      </a:dk2>
      <a:lt2>
        <a:srgbClr val="FFFFFF"/>
      </a:lt2>
      <a:accent1>
        <a:srgbClr val="00883A"/>
      </a:accent1>
      <a:accent2>
        <a:srgbClr val="41B6E6"/>
      </a:accent2>
      <a:accent3>
        <a:srgbClr val="E56D54"/>
      </a:accent3>
      <a:accent4>
        <a:srgbClr val="616468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ESS">
      <a:dk1>
        <a:srgbClr val="232323"/>
      </a:dk1>
      <a:lt1>
        <a:srgbClr val="FFFFFF"/>
      </a:lt1>
      <a:dk2>
        <a:srgbClr val="AD1400"/>
      </a:dk2>
      <a:lt2>
        <a:srgbClr val="FFFFFF"/>
      </a:lt2>
      <a:accent1>
        <a:srgbClr val="AD1400"/>
      </a:accent1>
      <a:accent2>
        <a:srgbClr val="41B6E6"/>
      </a:accent2>
      <a:accent3>
        <a:srgbClr val="E56D54"/>
      </a:accent3>
      <a:accent4>
        <a:srgbClr val="616468"/>
      </a:accent4>
      <a:accent5>
        <a:srgbClr val="007681"/>
      </a:accent5>
      <a:accent6>
        <a:srgbClr val="003E51"/>
      </a:accent6>
      <a:hlink>
        <a:srgbClr val="0088F4"/>
      </a:hlink>
      <a:folHlink>
        <a:srgbClr val="7E22C7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1073</Words>
  <Application>Microsoft Macintosh PowerPoint</Application>
  <PresentationFormat>Benutzerdefiniert</PresentationFormat>
  <Paragraphs>90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10" baseType="lpstr">
      <vt:lpstr>Aharoni</vt:lpstr>
      <vt:lpstr>Arial</vt:lpstr>
      <vt:lpstr>Bahnschrift</vt:lpstr>
      <vt:lpstr>Calibri</vt:lpstr>
      <vt:lpstr>Calibri Light</vt:lpstr>
      <vt:lpstr>Courier New</vt:lpstr>
      <vt:lpstr>Roboto</vt:lpstr>
      <vt:lpstr>Research Poster Template</vt:lpstr>
      <vt:lpstr>Office Theme</vt:lpstr>
      <vt:lpstr>PowerPoint-Präsentation</vt:lpstr>
    </vt:vector>
  </TitlesOfParts>
  <Manager/>
  <Company>© University at Buffalo</Company>
  <LinksUpToDate>false</LinksUpToDate>
  <SharedDoc>false</SharedDoc>
  <HyperlinkBase>www.buffalo.edu/brand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Research Poster Template</dc:title>
  <dc:subject/>
  <dc:creator>Markus Herklotz</dc:creator>
  <cp:keywords/>
  <dc:description/>
  <cp:lastModifiedBy>Ippisch, Niklas</cp:lastModifiedBy>
  <cp:revision>131</cp:revision>
  <cp:lastPrinted>2016-09-29T19:48:31Z</cp:lastPrinted>
  <dcterms:created xsi:type="dcterms:W3CDTF">2016-09-29T18:43:16Z</dcterms:created>
  <dcterms:modified xsi:type="dcterms:W3CDTF">2026-04-22T15:28:57Z</dcterms:modified>
  <cp:category/>
</cp:coreProperties>
</file>