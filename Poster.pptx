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90" r:id="rId2"/>
  </p:sldMasterIdLst>
  <p:notesMasterIdLst>
    <p:notesMasterId r:id="rId4"/>
  </p:notesMasterIdLst>
  <p:handoutMasterIdLst>
    <p:handoutMasterId r:id="rId5"/>
  </p:handoutMasterIdLst>
  <p:sldIdLst>
    <p:sldId id="264" r:id="rId3"/>
  </p:sldIdLst>
  <p:sldSz cx="21383625" cy="30275213"/>
  <p:notesSz cx="6858000" cy="9144000"/>
  <p:defaultTextStyle>
    <a:defPPr>
      <a:defRPr lang="en-US"/>
    </a:defPPr>
    <a:lvl1pPr marL="0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1pPr>
    <a:lvl2pPr marL="1239707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2pPr>
    <a:lvl3pPr marL="2479414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3pPr>
    <a:lvl4pPr marL="371912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4pPr>
    <a:lvl5pPr marL="4958828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5pPr>
    <a:lvl6pPr marL="619853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6pPr>
    <a:lvl7pPr marL="743824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7pPr>
    <a:lvl8pPr marL="8677949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8pPr>
    <a:lvl9pPr marL="991765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3B57052-E41A-AB9C-B2C2-6A6A40C49926}" name="Markus Herklotz" initials="MH" userId="bf16b252d87331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1400"/>
    <a:srgbClr val="616468"/>
    <a:srgbClr val="E5E5E5"/>
    <a:srgbClr val="9BD4FF"/>
    <a:srgbClr val="D9EFFF"/>
    <a:srgbClr val="81C9FF"/>
    <a:srgbClr val="BA8CDC"/>
    <a:srgbClr val="83D3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45"/>
    <p:restoredTop sz="94655"/>
  </p:normalViewPr>
  <p:slideViewPr>
    <p:cSldViewPr snapToGrid="0" snapToObjects="1">
      <p:cViewPr>
        <p:scale>
          <a:sx n="52" d="100"/>
          <a:sy n="52" d="100"/>
        </p:scale>
        <p:origin x="152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1" d="100"/>
          <a:sy n="101" d="100"/>
        </p:scale>
        <p:origin x="3936" y="208"/>
      </p:cViewPr>
      <p:guideLst/>
    </p:cSldViewPr>
  </p:notesViewPr>
  <p:gridSpacing cx="36576" cy="3657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96A8FA-5B42-674C-B20D-1B27C6B6ED8B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A0952-F090-8947-9D2B-4C66FA80507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053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CF15A-2A27-7442-AB11-75F1A48A6AE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CBA48-C438-7943-8380-32C73458EAB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26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1pPr>
    <a:lvl2pPr marL="307467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2pPr>
    <a:lvl3pPr marL="614934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3pPr>
    <a:lvl4pPr marL="922401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4pPr>
    <a:lvl5pPr marL="1229868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5pPr>
    <a:lvl6pPr marL="1537335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6pPr>
    <a:lvl7pPr marL="1844802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7pPr>
    <a:lvl8pPr marL="2152269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8pPr>
    <a:lvl9pPr marL="2459736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CBA48-C438-7943-8380-32C73458EAB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3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 userDrawn="1"/>
        </p:nvCxnSpPr>
        <p:spPr bwMode="auto">
          <a:xfrm>
            <a:off x="7222214" y="4406639"/>
            <a:ext cx="0" cy="23625966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cxnSp>
        <p:nvCxnSpPr>
          <p:cNvPr id="18" name="Straight Connector 17"/>
          <p:cNvCxnSpPr/>
          <p:nvPr userDrawn="1"/>
        </p:nvCxnSpPr>
        <p:spPr bwMode="auto">
          <a:xfrm>
            <a:off x="14159123" y="4410394"/>
            <a:ext cx="0" cy="23627281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1146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9002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1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9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451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93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8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11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4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279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0518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5769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747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06462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>
          <p15:clr>
            <a:srgbClr val="FBAE40"/>
          </p15:clr>
        </p15:guide>
        <p15:guide id="2" pos="374">
          <p15:clr>
            <a:srgbClr val="FBAE40"/>
          </p15:clr>
        </p15:guide>
        <p15:guide id="3" pos="13111">
          <p15:clr>
            <a:srgbClr val="FBAE40"/>
          </p15:clr>
        </p15:guide>
        <p15:guide id="4" orient="horz" pos="3460">
          <p15:clr>
            <a:srgbClr val="FBAE40"/>
          </p15:clr>
        </p15:guide>
        <p15:guide id="5" pos="8731">
          <p15:clr>
            <a:srgbClr val="FBAE40"/>
          </p15:clr>
        </p15:guide>
        <p15:guide id="6" pos="4350">
          <p15:clr>
            <a:srgbClr val="FBAE40"/>
          </p15:clr>
        </p15:guide>
        <p15:guide id="7" pos="4724">
          <p15:clr>
            <a:srgbClr val="FBAE40"/>
          </p15:clr>
        </p15:guide>
        <p15:guide id="8" pos="910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sv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6"/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sp>
        <p:nvSpPr>
          <p:cNvPr id="9" name="Rectangle 36"/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17DCE874-55FD-6E85-8C20-22ACCA283D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49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</p:sldLayoutIdLst>
  <p:txStyles>
    <p:titleStyle>
      <a:lvl1pPr algn="l" defTabSz="791973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3" indent="-197993" algn="l" defTabSz="791973" rtl="0" eaLnBrk="1" latinLnBrk="0" hangingPunct="1">
        <a:lnSpc>
          <a:spcPct val="90000"/>
        </a:lnSpc>
        <a:spcBef>
          <a:spcPts val="866"/>
        </a:spcBef>
        <a:buFont typeface="Arial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9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66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52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38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924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911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97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83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6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73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59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45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31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918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904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9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B5FEBBAE-7D1F-CF99-10D9-52BF392E9E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F9EC3C-B36D-A434-13A6-21060DE90CB3}"/>
              </a:ext>
            </a:extLst>
          </p:cNvPr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sp>
        <p:nvSpPr>
          <p:cNvPr id="10" name="Rectangle 36">
            <a:extLst>
              <a:ext uri="{FF2B5EF4-FFF2-40B4-BE49-F238E27FC236}">
                <a16:creationId xmlns:a16="http://schemas.microsoft.com/office/drawing/2014/main" id="{749E4BE2-EF95-8C82-1599-A7776BE235E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FC3B9F-3B9B-140A-071A-4BCB35F11C06}"/>
              </a:ext>
            </a:extLst>
          </p:cNvPr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6">
            <a:extLst>
              <a:ext uri="{FF2B5EF4-FFF2-40B4-BE49-F238E27FC236}">
                <a16:creationId xmlns:a16="http://schemas.microsoft.com/office/drawing/2014/main" id="{C943F254-66A7-03CB-C87D-7A677EC4357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ADF337D7-4949-4765-C43B-C871503586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80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accent4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accent4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accent4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jonasr.shinyapps.io/pfee/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1F976227-2327-0EF7-E5AF-65A514EB6B6B}"/>
              </a:ext>
            </a:extLst>
          </p:cNvPr>
          <p:cNvSpPr/>
          <p:nvPr/>
        </p:nvSpPr>
        <p:spPr>
          <a:xfrm>
            <a:off x="-43673" y="27158172"/>
            <a:ext cx="21427298" cy="3140001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DE24173-8946-6FD4-56E6-6704FC54233D}"/>
              </a:ext>
            </a:extLst>
          </p:cNvPr>
          <p:cNvSpPr/>
          <p:nvPr/>
        </p:nvSpPr>
        <p:spPr>
          <a:xfrm>
            <a:off x="0" y="0"/>
            <a:ext cx="21383230" cy="3627120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2" name="Poster Title">
            <a:extLst>
              <a:ext uri="{FF2B5EF4-FFF2-40B4-BE49-F238E27FC236}">
                <a16:creationId xmlns:a16="http://schemas.microsoft.com/office/drawing/2014/main" id="{122F9996-072B-864B-B6D4-4A5589C42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652" y="396974"/>
            <a:ext cx="15117631" cy="3096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9271" tIns="29631" rIns="59271" bIns="29631" anchor="b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defRPr/>
            </a:pP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DID YOU GET WHAT YOU WANTED</a:t>
            </a:r>
            <a:r>
              <a:rPr lang="en-US" altLang="en-US" sz="5400" b="1" dirty="0">
                <a:solidFill>
                  <a:srgbClr val="FFFFFF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?</a:t>
            </a: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 PERSPECTIVES ON FAIRNESS IN EDUCATION ACROSS EUROPE</a:t>
            </a:r>
            <a:endParaRPr lang="en-US" altLang="en-US" sz="5400" dirty="0">
              <a:solidFill>
                <a:srgbClr val="FFFFFF"/>
              </a:solidFill>
              <a:latin typeface="Aharoni" panose="02010803020104030203" pitchFamily="2" charset="-79"/>
              <a:ea typeface="Arial" charset="0"/>
              <a:cs typeface="Aharoni" panose="02010803020104030203" pitchFamily="2" charset="-79"/>
            </a:endParaRPr>
          </a:p>
          <a:p>
            <a:pPr>
              <a:spcBef>
                <a:spcPts val="390"/>
              </a:spcBef>
              <a:spcAft>
                <a:spcPts val="1169"/>
              </a:spcAft>
              <a:defRPr/>
            </a:pP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Jonas Rackl &amp; Niklas Ippisch, Infra4NextGen </a:t>
            </a:r>
            <a:r>
              <a:rPr lang="en-US" altLang="en-US" sz="3200" dirty="0" err="1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Datathon</a:t>
            </a: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 (April 2026)</a:t>
            </a:r>
            <a:endParaRPr lang="en-US" altLang="en-US" sz="3200" dirty="0">
              <a:solidFill>
                <a:schemeClr val="bg1"/>
              </a:solidFill>
              <a:latin typeface="Bahnschrift" panose="020B0502040204020203" pitchFamily="34" charset="0"/>
              <a:ea typeface="Arial" charset="0"/>
              <a:cs typeface="Arial" panose="020B0604020202020204" pitchFamily="34" charset="0"/>
            </a:endParaRPr>
          </a:p>
        </p:txBody>
      </p:sp>
      <p:sp>
        <p:nvSpPr>
          <p:cNvPr id="11" name="Introduction Textbox">
            <a:extLst>
              <a:ext uri="{FF2B5EF4-FFF2-40B4-BE49-F238E27FC236}">
                <a16:creationId xmlns:a16="http://schemas.microsoft.com/office/drawing/2014/main" id="{6CC485F0-7442-924B-A2B4-16DCD8374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52" y="6779438"/>
            <a:ext cx="7268312" cy="880305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algn="just"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📚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Background &amp; Motivation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Discrepancy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between ‘objective’ education quality and perceived quality and fairness (Boyadjieva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also influence changes and might moderate associations (</a:t>
            </a:r>
            <a:r>
              <a:rPr lang="en-US" altLang="en-US" sz="2800" dirty="0" err="1">
                <a:latin typeface="Roboto" panose="02000000000000000000" pitchFamily="2" charset="0"/>
                <a:ea typeface="Roboto" panose="02000000000000000000" pitchFamily="2" charset="0"/>
              </a:rPr>
              <a:t>Boyadjieva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Access to (higher) education researched mostly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characteristics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gender, race, and income (Naim,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Data Summary on Make it Strong indicates differences with respect to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age and educational background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(Stoilova et al.,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🔎 To what extent do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people’s perceived chances of attaining the education they wanted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depend on their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own background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and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aspects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of their region?</a:t>
            </a:r>
          </a:p>
        </p:txBody>
      </p:sp>
      <p:cxnSp>
        <p:nvCxnSpPr>
          <p:cNvPr id="12" name="Horizontal Section Divider" descr="Horizontal Divider">
            <a:extLst>
              <a:ext uri="{FF2B5EF4-FFF2-40B4-BE49-F238E27FC236}">
                <a16:creationId xmlns:a16="http://schemas.microsoft.com/office/drawing/2014/main" id="{FA9CD980-CAA8-B247-B623-40A39BE5BEF8}"/>
              </a:ext>
            </a:extLst>
          </p:cNvPr>
          <p:cNvCxnSpPr>
            <a:cxnSpLocks/>
          </p:cNvCxnSpPr>
          <p:nvPr/>
        </p:nvCxnSpPr>
        <p:spPr bwMode="auto">
          <a:xfrm>
            <a:off x="369889" y="15674183"/>
            <a:ext cx="20474391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Methods Textbox">
            <a:extLst>
              <a:ext uri="{FF2B5EF4-FFF2-40B4-BE49-F238E27FC236}">
                <a16:creationId xmlns:a16="http://schemas.microsoft.com/office/drawing/2014/main" id="{5FBBC0B6-D787-D945-A995-B5D5A9D0A98B}"/>
              </a:ext>
            </a:extLst>
          </p:cNvPr>
          <p:cNvSpPr txBox="1"/>
          <p:nvPr/>
        </p:nvSpPr>
        <p:spPr>
          <a:xfrm>
            <a:off x="8225772" y="6779208"/>
            <a:ext cx="5850002" cy="426014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685"/>
              </a:spcAft>
              <a:defRPr/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🛠️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Methods and Data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Linear Mixed Models </a:t>
            </a:r>
            <a:b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with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three levels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 Individual and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Country (fixed effect)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 (random effect)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Descriptive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interactive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map: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https://jonasr.shinyapps.io/pfee/</a:t>
            </a: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robustness analysis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and variable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selection using the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BIC</a:t>
            </a:r>
          </a:p>
        </p:txBody>
      </p:sp>
      <p:sp>
        <p:nvSpPr>
          <p:cNvPr id="4" name="Methods Textbox">
            <a:extLst>
              <a:ext uri="{FF2B5EF4-FFF2-40B4-BE49-F238E27FC236}">
                <a16:creationId xmlns:a16="http://schemas.microsoft.com/office/drawing/2014/main" id="{BCBBB5D7-5C3E-5C81-FA17-FB8DF26AF40D}"/>
              </a:ext>
            </a:extLst>
          </p:cNvPr>
          <p:cNvSpPr txBox="1"/>
          <p:nvPr/>
        </p:nvSpPr>
        <p:spPr>
          <a:xfrm>
            <a:off x="465652" y="24618997"/>
            <a:ext cx="20430556" cy="4625497"/>
          </a:xfrm>
          <a:prstGeom prst="rect">
            <a:avLst/>
          </a:prstGeom>
          <a:noFill/>
          <a:effectLst/>
        </p:spPr>
        <p:txBody>
          <a:bodyPr wrap="square" numCol="2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  <a:defRPr/>
            </a:pPr>
            <a:r>
              <a:rPr lang="en-US" sz="4000" b="1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📑 </a:t>
            </a:r>
            <a:r>
              <a:rPr lang="en-US" sz="4000" b="1" dirty="0">
                <a:latin typeface="Aharoni" panose="02010803020104030203" pitchFamily="2" charset="-79"/>
                <a:cs typeface="Aharoni" panose="02010803020104030203" pitchFamily="2" charset="-79"/>
              </a:rPr>
              <a:t>Discussion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Findings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do not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suggest strong influence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regional variables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Individual aspects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seem to be more important, especially concerning the childhood household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Gender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and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income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remain crucial factors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Results must be interpreted in context of some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limitations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missing data on regional level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sample sizes in some regions</a:t>
            </a:r>
          </a:p>
          <a:p>
            <a:pPr marL="19050" indent="307975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Further research: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area methods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(e.g., Fay-Harriot models) and focus on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educational quality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 regions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1582607" lvl="1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</p:txBody>
      </p:sp>
      <p:sp>
        <p:nvSpPr>
          <p:cNvPr id="52" name="Contact information">
            <a:extLst>
              <a:ext uri="{FF2B5EF4-FFF2-40B4-BE49-F238E27FC236}">
                <a16:creationId xmlns:a16="http://schemas.microsoft.com/office/drawing/2014/main" id="{33C51104-5F23-F27C-9524-81046F1A8BFC}"/>
              </a:ext>
            </a:extLst>
          </p:cNvPr>
          <p:cNvSpPr/>
          <p:nvPr/>
        </p:nvSpPr>
        <p:spPr>
          <a:xfrm>
            <a:off x="26813" y="27195212"/>
            <a:ext cx="21383230" cy="330973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sz="1400" b="1" i="0" noProof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References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Boyadjieva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P., Haralampiev, K., &amp; Ilieva-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Trichkova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 (2024). Social Justice Profiles: An Exploratory Study towards an Empirically Based Multi-Dimensional Classification of 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Countries Regarding Fairness of Participation in Higher Education. Societies, 14(4), 44.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/10.3390/soc14040044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European Social Survey European Research Infrastructure (ESS ERIC) (2025a) CRONOS-3 Wave 1 edition 1.4 [Data set]. 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/10.21338/cron3w1e01_4.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(2025b) CRONOS-3 Wave 3 edition 1.1 [Data set]. 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/10.21338/cron3w3e01_1.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(2025c) CRONOS-3 Wave 5 edition 1.0 [Data set]. 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/10.21338/cron3w5e01.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(2026a). At-risk-of-poverty rate by NUTS 2 region. ilc_li41 [Data set]. https://doi.org/10.2908/ILC_LI41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(2026b). Early leavers from education and training by NUTS 2 region. edat_lfse_16 [Data set]. https://doi.org/10.2908/EDAT_LFSE_16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(2026c). Young persons neither in employment nor in education and training by NUTS 2 region. edat_lfse_22 [Data set]. https://doi.org/10.2908/EDAT_LFSE_22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Naim. A. (2025). Equity across the educational spectrum: innovations in educational access crosswise all levels. Frontiers in Education, 9,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/10.3389/feduc.2024.1499642 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Stoilova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R., Ilieva, P., &amp; Velichkov, M. (2025). Building a Resilient Europe. Make it Strong Data Summary. Infra4NextGen Project. 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Wanti, M., Wesselink, R., Biemans, H., &amp; den Brok, P. (2022). Determining factors of access and equity in higher education: A systematic review. 				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This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work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licensed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CC BY 4.0.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view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copy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Equity in Education &amp; Society, 1(2), 279-296. https://doi.org/10.1177/27526461221092429	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						</a:t>
            </a:r>
            <a:r>
              <a:rPr lang="de-DE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visit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https://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creativecommons.org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/4.0/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en-US" sz="1400" b="0" i="0" noProof="0" dirty="0">
              <a:solidFill>
                <a:schemeClr val="bg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Contact information">
            <a:extLst>
              <a:ext uri="{FF2B5EF4-FFF2-40B4-BE49-F238E27FC236}">
                <a16:creationId xmlns:a16="http://schemas.microsoft.com/office/drawing/2014/main" id="{FA863AD8-0B2F-C4CF-640F-400A2E2C9C48}"/>
              </a:ext>
            </a:extLst>
          </p:cNvPr>
          <p:cNvSpPr/>
          <p:nvPr/>
        </p:nvSpPr>
        <p:spPr>
          <a:xfrm>
            <a:off x="15591586" y="27220514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GitHub Repository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0CFF8E-AD59-BCFF-271A-5A2A7DB2495D}"/>
              </a:ext>
            </a:extLst>
          </p:cNvPr>
          <p:cNvSpPr txBox="1"/>
          <p:nvPr/>
        </p:nvSpPr>
        <p:spPr>
          <a:xfrm>
            <a:off x="465652" y="16004886"/>
            <a:ext cx="6828284" cy="8354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📊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Results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Variables concerning the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family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b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(i.e., feeling safe, conflicts and financial difficulties) in youth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significantly associated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for perceived fairness of education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Results also emphasize existing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current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income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Close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the own education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: The more I am satisfied with my own education, the fairer I perceive my chances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Female respondents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tend to perceive educational chances as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less fair – even after controlling for age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attributes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almost no predictive power</a:t>
            </a:r>
          </a:p>
        </p:txBody>
      </p:sp>
      <p:cxnSp>
        <p:nvCxnSpPr>
          <p:cNvPr id="44" name="Horizontal Section Divider" descr="Horizontal Divider">
            <a:extLst>
              <a:ext uri="{FF2B5EF4-FFF2-40B4-BE49-F238E27FC236}">
                <a16:creationId xmlns:a16="http://schemas.microsoft.com/office/drawing/2014/main" id="{ED3133C5-C133-88E7-8D83-FB719112CFF2}"/>
              </a:ext>
            </a:extLst>
          </p:cNvPr>
          <p:cNvCxnSpPr>
            <a:cxnSpLocks/>
          </p:cNvCxnSpPr>
          <p:nvPr/>
        </p:nvCxnSpPr>
        <p:spPr bwMode="auto">
          <a:xfrm>
            <a:off x="8037360" y="6681406"/>
            <a:ext cx="0" cy="873938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32" name="Grafik 31">
            <a:extLst>
              <a:ext uri="{FF2B5EF4-FFF2-40B4-BE49-F238E27FC236}">
                <a16:creationId xmlns:a16="http://schemas.microsoft.com/office/drawing/2014/main" id="{7E512F49-62D0-F087-2899-0BE684B8BCA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6626594" y="257505"/>
            <a:ext cx="4152900" cy="1663700"/>
          </a:xfrm>
          <a:prstGeom prst="rect">
            <a:avLst/>
          </a:prstGeom>
        </p:spPr>
      </p:pic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0CAAB848-3D25-6202-2077-DD4DF0C5B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260255"/>
              </p:ext>
            </p:extLst>
          </p:nvPr>
        </p:nvGraphicFramePr>
        <p:xfrm>
          <a:off x="8629660" y="11281523"/>
          <a:ext cx="11970903" cy="4206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799800">
                  <a:extLst>
                    <a:ext uri="{9D8B030D-6E8A-4147-A177-3AD203B41FA5}">
                      <a16:colId xmlns:a16="http://schemas.microsoft.com/office/drawing/2014/main" val="771349502"/>
                    </a:ext>
                  </a:extLst>
                </a:gridCol>
                <a:gridCol w="2243982">
                  <a:extLst>
                    <a:ext uri="{9D8B030D-6E8A-4147-A177-3AD203B41FA5}">
                      <a16:colId xmlns:a16="http://schemas.microsoft.com/office/drawing/2014/main" val="1857183667"/>
                    </a:ext>
                  </a:extLst>
                </a:gridCol>
                <a:gridCol w="6927121">
                  <a:extLst>
                    <a:ext uri="{9D8B030D-6E8A-4147-A177-3AD203B41FA5}">
                      <a16:colId xmlns:a16="http://schemas.microsoft.com/office/drawing/2014/main" val="151378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Dataset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Pillar / 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72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1)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Perceived fairness of own education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Satisfaction with own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3120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3)</a:t>
                      </a:r>
                      <a:b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</a:b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Current occupation matches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2142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5)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Healthy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Felt safe with at least one carer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Serious conflict in household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Severe financial difficulties in family first 18 years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930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ilc_li41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At-risk-of-poverty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2728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early leavers from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88596884"/>
                  </a:ext>
                </a:extLst>
              </a:tr>
              <a:tr h="21589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young NEET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4762715"/>
                  </a:ext>
                </a:extLst>
              </a:tr>
            </a:tbl>
          </a:graphicData>
        </a:graphic>
      </p:graphicFrame>
      <p:cxnSp>
        <p:nvCxnSpPr>
          <p:cNvPr id="46" name="Horizontal Section Divider" descr="Horizontal Divider">
            <a:extLst>
              <a:ext uri="{FF2B5EF4-FFF2-40B4-BE49-F238E27FC236}">
                <a16:creationId xmlns:a16="http://schemas.microsoft.com/office/drawing/2014/main" id="{078C5412-3219-B8B9-8F1D-A30610F02203}"/>
              </a:ext>
            </a:extLst>
          </p:cNvPr>
          <p:cNvCxnSpPr>
            <a:cxnSpLocks/>
          </p:cNvCxnSpPr>
          <p:nvPr/>
        </p:nvCxnSpPr>
        <p:spPr bwMode="auto">
          <a:xfrm>
            <a:off x="489800" y="24346659"/>
            <a:ext cx="20289694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49" name="Contact information">
            <a:extLst>
              <a:ext uri="{FF2B5EF4-FFF2-40B4-BE49-F238E27FC236}">
                <a16:creationId xmlns:a16="http://schemas.microsoft.com/office/drawing/2014/main" id="{E78EDF07-BDD6-030F-6F0A-393C574E6D33}"/>
              </a:ext>
            </a:extLst>
          </p:cNvPr>
          <p:cNvSpPr/>
          <p:nvPr/>
        </p:nvSpPr>
        <p:spPr>
          <a:xfrm>
            <a:off x="18676411" y="27169223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Interactive Map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1C0B96D6-C889-08A1-34B8-382AD96139DC}"/>
              </a:ext>
            </a:extLst>
          </p:cNvPr>
          <p:cNvSpPr txBox="1"/>
          <p:nvPr/>
        </p:nvSpPr>
        <p:spPr>
          <a:xfrm>
            <a:off x="7733966" y="23469193"/>
            <a:ext cx="13216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2: LMM coefficients of linear mixed model. Error bars indicate 95% confidence interval. </a:t>
            </a:r>
            <a:r>
              <a:rPr lang="en-US" sz="1800" noProof="0" dirty="0">
                <a:latin typeface="Courier New" panose="02070309020205020404" pitchFamily="49" charset="0"/>
                <a:ea typeface="Roboto" panose="02000000000000000000" pitchFamily="2" charset="0"/>
                <a:cs typeface="Courier New" panose="02070309020205020404" pitchFamily="49" charset="0"/>
              </a:rPr>
              <a:t>w1pspweight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applied. 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In the model, fixed effects for countries (dummy variables) are included as well but not depicted here (own calculations).</a:t>
            </a:r>
          </a:p>
        </p:txBody>
      </p:sp>
      <p:sp>
        <p:nvSpPr>
          <p:cNvPr id="57" name="Introduction Textbox">
            <a:extLst>
              <a:ext uri="{FF2B5EF4-FFF2-40B4-BE49-F238E27FC236}">
                <a16:creationId xmlns:a16="http://schemas.microsoft.com/office/drawing/2014/main" id="{5A15CBDE-004D-8BA7-47F1-6D58DB9261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66" y="4068197"/>
            <a:ext cx="20553197" cy="22115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⚡️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Key Takeaways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Perceived chances to attain the education one wants vary based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(household) characteristics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Policy-Makers should also focus on measures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related to the household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(e.g., youth welfare and social work in families)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the youth unemployment seem to 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 strong association</a:t>
            </a:r>
          </a:p>
        </p:txBody>
      </p:sp>
      <p:cxnSp>
        <p:nvCxnSpPr>
          <p:cNvPr id="58" name="Horizontal Section Divider" descr="Horizontal Divider">
            <a:extLst>
              <a:ext uri="{FF2B5EF4-FFF2-40B4-BE49-F238E27FC236}">
                <a16:creationId xmlns:a16="http://schemas.microsoft.com/office/drawing/2014/main" id="{FA420535-A657-23B5-1AF7-89DAB0EC1969}"/>
              </a:ext>
            </a:extLst>
          </p:cNvPr>
          <p:cNvCxnSpPr>
            <a:cxnSpLocks/>
          </p:cNvCxnSpPr>
          <p:nvPr/>
        </p:nvCxnSpPr>
        <p:spPr bwMode="auto">
          <a:xfrm>
            <a:off x="520166" y="6311547"/>
            <a:ext cx="20324890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131" name="Grafik 130">
            <a:extLst>
              <a:ext uri="{FF2B5EF4-FFF2-40B4-BE49-F238E27FC236}">
                <a16:creationId xmlns:a16="http://schemas.microsoft.com/office/drawing/2014/main" id="{79605E92-B193-6EB0-4ADB-BB8E35D17F3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41" t="4784" r="1080" b="2406"/>
          <a:stretch>
            <a:fillRect/>
          </a:stretch>
        </p:blipFill>
        <p:spPr>
          <a:xfrm>
            <a:off x="20162154" y="29862209"/>
            <a:ext cx="1234680" cy="426061"/>
          </a:xfrm>
          <a:prstGeom prst="rect">
            <a:avLst/>
          </a:prstGeom>
        </p:spPr>
      </p:pic>
      <p:sp>
        <p:nvSpPr>
          <p:cNvPr id="137" name="Textfeld 136">
            <a:extLst>
              <a:ext uri="{FF2B5EF4-FFF2-40B4-BE49-F238E27FC236}">
                <a16:creationId xmlns:a16="http://schemas.microsoft.com/office/drawing/2014/main" id="{DFB7533F-E5D9-0997-18CC-1DE6E8EC593C}"/>
              </a:ext>
            </a:extLst>
          </p:cNvPr>
          <p:cNvSpPr txBox="1"/>
          <p:nvPr/>
        </p:nvSpPr>
        <p:spPr>
          <a:xfrm>
            <a:off x="14075773" y="10328825"/>
            <a:ext cx="6728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1: Mean perceived fairness by gender and country.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Note: X-axis adjusted for better visibility </a:t>
            </a:r>
            <a:r>
              <a:rPr lang="en-US" sz="1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(own calculations)</a:t>
            </a:r>
            <a:endParaRPr lang="en-US" sz="1800" i="1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56" name="Grafik 155">
            <a:extLst>
              <a:ext uri="{FF2B5EF4-FFF2-40B4-BE49-F238E27FC236}">
                <a16:creationId xmlns:a16="http://schemas.microsoft.com/office/drawing/2014/main" id="{28FF8625-8E72-C2EF-189E-F70546DA77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846" y="16056018"/>
            <a:ext cx="13025433" cy="7169108"/>
          </a:xfrm>
          <a:prstGeom prst="rect">
            <a:avLst/>
          </a:prstGeom>
        </p:spPr>
      </p:pic>
      <p:sp>
        <p:nvSpPr>
          <p:cNvPr id="158" name="Textfeld 157">
            <a:extLst>
              <a:ext uri="{FF2B5EF4-FFF2-40B4-BE49-F238E27FC236}">
                <a16:creationId xmlns:a16="http://schemas.microsoft.com/office/drawing/2014/main" id="{35A1FD87-19F9-789C-6A67-A92CE1DDF5AC}"/>
              </a:ext>
            </a:extLst>
          </p:cNvPr>
          <p:cNvSpPr txBox="1"/>
          <p:nvPr/>
        </p:nvSpPr>
        <p:spPr>
          <a:xfrm>
            <a:off x="11526542" y="19510121"/>
            <a:ext cx="3200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noProof="0" dirty="0"/>
              <a:t>regional predictors almost 0 and </a:t>
            </a:r>
            <a:br>
              <a:rPr lang="en-US" sz="1800" noProof="0" dirty="0"/>
            </a:br>
            <a:r>
              <a:rPr lang="en-US" sz="1800" noProof="0" dirty="0"/>
              <a:t>insignificant</a:t>
            </a:r>
          </a:p>
        </p:txBody>
      </p:sp>
      <p:sp>
        <p:nvSpPr>
          <p:cNvPr id="160" name="Geschweifte Klammer rechts 159">
            <a:extLst>
              <a:ext uri="{FF2B5EF4-FFF2-40B4-BE49-F238E27FC236}">
                <a16:creationId xmlns:a16="http://schemas.microsoft.com/office/drawing/2014/main" id="{78B11760-2D0C-3821-08D7-5DCD6EF76CC2}"/>
              </a:ext>
            </a:extLst>
          </p:cNvPr>
          <p:cNvSpPr/>
          <p:nvPr/>
        </p:nvSpPr>
        <p:spPr>
          <a:xfrm>
            <a:off x="10997852" y="19127244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Geschweifte Klammer rechts 162">
            <a:extLst>
              <a:ext uri="{FF2B5EF4-FFF2-40B4-BE49-F238E27FC236}">
                <a16:creationId xmlns:a16="http://schemas.microsoft.com/office/drawing/2014/main" id="{F47E11FC-81E5-F1E4-3C8A-FDBFAFEBA386}"/>
              </a:ext>
            </a:extLst>
          </p:cNvPr>
          <p:cNvSpPr/>
          <p:nvPr/>
        </p:nvSpPr>
        <p:spPr>
          <a:xfrm rot="10800000">
            <a:off x="14895534" y="19133922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5E261B3-9A5F-661B-39C4-CCAD43233DA6}"/>
              </a:ext>
            </a:extLst>
          </p:cNvPr>
          <p:cNvSpPr txBox="1"/>
          <p:nvPr/>
        </p:nvSpPr>
        <p:spPr>
          <a:xfrm>
            <a:off x="15789880" y="29152914"/>
            <a:ext cx="24915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bg1"/>
                </a:solidFill>
              </a:rPr>
              <a:t>https://</a:t>
            </a:r>
            <a:r>
              <a:rPr lang="de-DE" sz="1100" dirty="0" err="1">
                <a:solidFill>
                  <a:schemeClr val="bg1"/>
                </a:solidFill>
              </a:rPr>
              <a:t>github.com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r>
              <a:rPr lang="de-DE" sz="1100" dirty="0" err="1">
                <a:solidFill>
                  <a:schemeClr val="bg1"/>
                </a:solidFill>
              </a:rPr>
              <a:t>nippisch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br>
              <a:rPr lang="de-DE" sz="1100" dirty="0">
                <a:solidFill>
                  <a:schemeClr val="bg1"/>
                </a:solidFill>
              </a:rPr>
            </a:br>
            <a:r>
              <a:rPr lang="de-DE" sz="1100" dirty="0" err="1">
                <a:solidFill>
                  <a:schemeClr val="bg1"/>
                </a:solidFill>
              </a:rPr>
              <a:t>datathon_make_it_strong</a:t>
            </a:r>
            <a:endParaRPr lang="de-DE" sz="1100" dirty="0">
              <a:solidFill>
                <a:schemeClr val="bg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D02E028-8DFF-BCE0-D49A-60DE2800B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25675" y="27560838"/>
            <a:ext cx="1620000" cy="162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B37F003-C545-6E1E-957C-D754941DAA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18365" y="2110050"/>
            <a:ext cx="1861129" cy="131519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48358E-9A1B-58FA-5390-2989124FE8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76208" y="27560838"/>
            <a:ext cx="1620000" cy="1620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70D9EF1-4E21-0FE3-53C0-159F4EFDC832}"/>
              </a:ext>
            </a:extLst>
          </p:cNvPr>
          <p:cNvSpPr txBox="1"/>
          <p:nvPr/>
        </p:nvSpPr>
        <p:spPr>
          <a:xfrm>
            <a:off x="18837154" y="29152913"/>
            <a:ext cx="24915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bg1"/>
                </a:solidFill>
              </a:rPr>
              <a:t>https://</a:t>
            </a:r>
            <a:r>
              <a:rPr lang="de-DE" sz="1100" dirty="0" err="1">
                <a:solidFill>
                  <a:schemeClr val="bg1"/>
                </a:solidFill>
              </a:rPr>
              <a:t>jonasr.shinyapps.io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r>
              <a:rPr lang="de-DE" sz="1100" dirty="0" err="1">
                <a:solidFill>
                  <a:schemeClr val="bg1"/>
                </a:solidFill>
              </a:rPr>
              <a:t>pfee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5583989-E8E8-F163-40FA-1C0073DDC5A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894" r="3517"/>
          <a:stretch>
            <a:fillRect/>
          </a:stretch>
        </p:blipFill>
        <p:spPr>
          <a:xfrm>
            <a:off x="14045856" y="6480914"/>
            <a:ext cx="6554707" cy="3844990"/>
          </a:xfrm>
          <a:prstGeom prst="rect">
            <a:avLst/>
          </a:prstGeom>
        </p:spPr>
      </p:pic>
      <p:cxnSp>
        <p:nvCxnSpPr>
          <p:cNvPr id="15" name="Horizontal Section Divider" descr="Horizontal Divider">
            <a:extLst>
              <a:ext uri="{FF2B5EF4-FFF2-40B4-BE49-F238E27FC236}">
                <a16:creationId xmlns:a16="http://schemas.microsoft.com/office/drawing/2014/main" id="{37156DBA-3B56-F13A-3DE3-022ACE04F8F6}"/>
              </a:ext>
            </a:extLst>
          </p:cNvPr>
          <p:cNvCxnSpPr>
            <a:cxnSpLocks/>
          </p:cNvCxnSpPr>
          <p:nvPr/>
        </p:nvCxnSpPr>
        <p:spPr bwMode="auto">
          <a:xfrm>
            <a:off x="14796883" y="27283550"/>
            <a:ext cx="0" cy="2852739"/>
          </a:xfrm>
          <a:prstGeom prst="line">
            <a:avLst/>
          </a:prstGeom>
          <a:noFill/>
          <a:ln w="2540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Horizontal Section Divider" descr="Horizontal Divider">
            <a:extLst>
              <a:ext uri="{FF2B5EF4-FFF2-40B4-BE49-F238E27FC236}">
                <a16:creationId xmlns:a16="http://schemas.microsoft.com/office/drawing/2014/main" id="{2E787834-AA61-6113-6316-882746F4BF6A}"/>
              </a:ext>
            </a:extLst>
          </p:cNvPr>
          <p:cNvCxnSpPr>
            <a:cxnSpLocks/>
          </p:cNvCxnSpPr>
          <p:nvPr/>
        </p:nvCxnSpPr>
        <p:spPr bwMode="auto">
          <a:xfrm>
            <a:off x="18717884" y="27034308"/>
            <a:ext cx="0" cy="2384734"/>
          </a:xfrm>
          <a:prstGeom prst="line">
            <a:avLst/>
          </a:prstGeom>
          <a:noFill/>
          <a:ln w="2540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123790291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LMU 1">
      <a:dk1>
        <a:srgbClr val="232323"/>
      </a:dk1>
      <a:lt1>
        <a:srgbClr val="FFFFFF"/>
      </a:lt1>
      <a:dk2>
        <a:srgbClr val="005BBB"/>
      </a:dk2>
      <a:lt2>
        <a:srgbClr val="FFFFFF"/>
      </a:lt2>
      <a:accent1>
        <a:srgbClr val="00883A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SS">
      <a:dk1>
        <a:srgbClr val="232323"/>
      </a:dk1>
      <a:lt1>
        <a:srgbClr val="FFFFFF"/>
      </a:lt1>
      <a:dk2>
        <a:srgbClr val="AD1400"/>
      </a:dk2>
      <a:lt2>
        <a:srgbClr val="FFFFFF"/>
      </a:lt2>
      <a:accent1>
        <a:srgbClr val="AD1400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0088F4"/>
      </a:hlink>
      <a:folHlink>
        <a:srgbClr val="7E22C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1102</Words>
  <Application>Microsoft Macintosh PowerPoint</Application>
  <PresentationFormat>Benutzerdefiniert</PresentationFormat>
  <Paragraphs>80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</vt:i4>
      </vt:variant>
    </vt:vector>
  </HeadingPairs>
  <TitlesOfParts>
    <vt:vector size="10" baseType="lpstr">
      <vt:lpstr>Aharoni</vt:lpstr>
      <vt:lpstr>Arial</vt:lpstr>
      <vt:lpstr>Bahnschrift</vt:lpstr>
      <vt:lpstr>Calibri</vt:lpstr>
      <vt:lpstr>Calibri Light</vt:lpstr>
      <vt:lpstr>Courier New</vt:lpstr>
      <vt:lpstr>Roboto</vt:lpstr>
      <vt:lpstr>Research Poster Template</vt:lpstr>
      <vt:lpstr>Office Theme</vt:lpstr>
      <vt:lpstr>PowerPoint-Präsentation</vt:lpstr>
    </vt:vector>
  </TitlesOfParts>
  <Manager/>
  <Company>© University at Buffalo</Company>
  <LinksUpToDate>false</LinksUpToDate>
  <SharedDoc>false</SharedDoc>
  <HyperlinkBase>www.buffalo.edu/brand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 Research Poster Template</dc:title>
  <dc:subject/>
  <dc:creator>Markus Herklotz</dc:creator>
  <cp:keywords/>
  <dc:description/>
  <cp:lastModifiedBy>Ippisch, Niklas</cp:lastModifiedBy>
  <cp:revision>133</cp:revision>
  <cp:lastPrinted>2016-09-29T19:48:31Z</cp:lastPrinted>
  <dcterms:created xsi:type="dcterms:W3CDTF">2016-09-29T18:43:16Z</dcterms:created>
  <dcterms:modified xsi:type="dcterms:W3CDTF">2026-04-23T05:35:39Z</dcterms:modified>
  <cp:category/>
</cp:coreProperties>
</file>